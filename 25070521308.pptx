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Consolas" panose="020B0609020204030204" pitchFamily="49" charset="0"/>
      <p:regular r:id="rId13"/>
      <p:bold r:id="rId14"/>
      <p:italic r:id="rId15"/>
      <p:boldItalic r:id="rId16"/>
    </p:embeddedFont>
    <p:embeddedFont>
      <p:font typeface="DynaPuff Bold" panose="020B0604020202020204" charset="0"/>
      <p:regular r:id="rId17"/>
    </p:embeddedFont>
    <p:embeddedFont>
      <p:font typeface="Lexend Deca" panose="020B0604020202020204" charset="0"/>
      <p:regular r:id="rId18"/>
    </p:embeddedFont>
    <p:embeddedFont>
      <p:font typeface="Lexend Deca Bold" panose="020B0604020202020204" charset="0"/>
      <p:regular r:id="rId19"/>
    </p:embeddedFont>
    <p:embeddedFont>
      <p:font typeface="Lexend Deca Medium" panose="020B0604020202020204" charset="0"/>
      <p:regular r:id="rId20"/>
    </p:embeddedFont>
    <p:embeddedFont>
      <p:font typeface="Lexend Deca SemiBold" panose="020B0604020202020204" charset="0"/>
      <p:regular r:id="rId2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300" y="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321446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preencoded.png">
            <a:hlinkClick r:id="rId3"/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/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1"/>
            <a:ext cx="6096000" cy="6858001"/>
          </a:xfrm>
          <a:prstGeom prst="roundRect">
            <a:avLst>
              <a:gd name="adj" fmla="val 5903"/>
            </a:avLst>
          </a:prstGeom>
          <a:solidFill>
            <a:srgbClr val="F7E3A0"/>
          </a:solidFill>
          <a:ln/>
        </p:spPr>
      </p:sp>
      <p:sp>
        <p:nvSpPr>
          <p:cNvPr id="3" name="Text 1"/>
          <p:cNvSpPr/>
          <p:nvPr/>
        </p:nvSpPr>
        <p:spPr>
          <a:xfrm>
            <a:off x="780832" y="591026"/>
            <a:ext cx="6457888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kern="100" spc="18" dirty="0">
                <a:solidFill>
                  <a:srgbClr val="2E2A26"/>
                </a:solidFill>
                <a:latin typeface="Lexend Deca SemiBold" pitchFamily="34" charset="0"/>
                <a:ea typeface="Lexend Deca SemiBold" pitchFamily="34" charset="-122"/>
                <a:cs typeface="Lexend Deca SemiBold" pitchFamily="34" charset="-120"/>
              </a:rPr>
              <a:t>DESIGN AND ANALYSIS OF ALGORITHMS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80832" y="1068861"/>
            <a:ext cx="5848303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7200" b="1" kern="100" spc="-36" dirty="0">
                <a:solidFill>
                  <a:srgbClr val="2E2A26"/>
                </a:solidFill>
                <a:latin typeface="DynaPuff Bold" pitchFamily="34" charset="0"/>
                <a:ea typeface="DynaPuff Bold" pitchFamily="34" charset="-122"/>
                <a:cs typeface="DynaPuff Bold" pitchFamily="34" charset="-120"/>
              </a:rPr>
              <a:t>Divide and</a:t>
            </a:r>
            <a:endParaRPr lang="en-US" sz="7200" dirty="0"/>
          </a:p>
          <a:p>
            <a:pPr marL="0" indent="0" algn="l">
              <a:lnSpc>
                <a:spcPct val="83000"/>
              </a:lnSpc>
              <a:buNone/>
            </a:pPr>
            <a:r>
              <a:rPr lang="en-US" sz="7200" b="1" kern="100" spc="-36" dirty="0">
                <a:solidFill>
                  <a:srgbClr val="2E2A26"/>
                </a:solidFill>
                <a:latin typeface="DynaPuff Bold" pitchFamily="34" charset="0"/>
                <a:ea typeface="DynaPuff Bold" pitchFamily="34" charset="-122"/>
                <a:cs typeface="DynaPuff Bold" pitchFamily="34" charset="-120"/>
              </a:rPr>
              <a:t>Conquer</a:t>
            </a:r>
            <a:endParaRPr lang="en-US" sz="72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0832" y="3184823"/>
            <a:ext cx="2793831" cy="39360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80832" y="3915172"/>
            <a:ext cx="5848303" cy="30732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7000"/>
              </a:lnSpc>
              <a:spcAft>
                <a:spcPts val="2150"/>
              </a:spcAft>
              <a:buNone/>
            </a:pPr>
            <a:r>
              <a:rPr lang="en-US" sz="2200" dirty="0">
                <a:solidFill>
                  <a:srgbClr val="2E2A2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Presenter: Tanay Vijay Gulhane</a:t>
            </a:r>
            <a:endParaRPr lang="en-US" sz="2200" dirty="0"/>
          </a:p>
          <a:p>
            <a:pPr marL="0" indent="0" algn="l">
              <a:lnSpc>
                <a:spcPct val="117000"/>
              </a:lnSpc>
              <a:spcAft>
                <a:spcPts val="2150"/>
              </a:spcAft>
              <a:buNone/>
            </a:pPr>
            <a:r>
              <a:rPr lang="en-US" sz="2200" dirty="0">
                <a:solidFill>
                  <a:srgbClr val="2E2A2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PRN: 25070521308 </a:t>
            </a:r>
            <a:endParaRPr lang="en-US" sz="2200" dirty="0"/>
          </a:p>
          <a:p>
            <a:pPr marL="0" indent="0" algn="l">
              <a:lnSpc>
                <a:spcPct val="117000"/>
              </a:lnSpc>
              <a:spcAft>
                <a:spcPts val="2150"/>
              </a:spcAft>
              <a:buNone/>
            </a:pPr>
            <a:r>
              <a:rPr lang="en-US" sz="2200" dirty="0">
                <a:solidFill>
                  <a:srgbClr val="2E2A2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Batch: C2(2025-29)</a:t>
            </a:r>
          </a:p>
          <a:p>
            <a:pPr marL="0" indent="0" algn="l">
              <a:lnSpc>
                <a:spcPct val="117000"/>
              </a:lnSpc>
              <a:spcAft>
                <a:spcPts val="2150"/>
              </a:spcAft>
              <a:buNone/>
            </a:pPr>
            <a:r>
              <a:rPr lang="en-US" sz="2200" dirty="0">
                <a:solidFill>
                  <a:srgbClr val="2E2A2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Generated using : Gamma AI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42890"/>
            <a:ext cx="10972526" cy="1261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4600" b="1" kern="100" spc="-23" dirty="0">
                <a:solidFill>
                  <a:srgbClr val="2E2A26"/>
                </a:solidFill>
                <a:latin typeface="DynaPuff Bold" pitchFamily="34" charset="0"/>
                <a:ea typeface="DynaPuff Bold" pitchFamily="34" charset="-122"/>
                <a:cs typeface="DynaPuff Bold" pitchFamily="34" charset="-120"/>
              </a:rPr>
              <a:t>Divide and conquer breaks one hard problem into smaller ones</a:t>
            </a:r>
            <a:endParaRPr lang="en-US" sz="4600" dirty="0"/>
          </a:p>
        </p:txBody>
      </p:sp>
      <p:sp>
        <p:nvSpPr>
          <p:cNvPr id="3" name="Text 1"/>
          <p:cNvSpPr/>
          <p:nvPr/>
        </p:nvSpPr>
        <p:spPr>
          <a:xfrm>
            <a:off x="609585" y="2189599"/>
            <a:ext cx="4267093" cy="27378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2200" dirty="0">
                <a:solidFill>
                  <a:srgbClr val="2E2A2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technique that solves a big problem by breaking it into smaller subproblems of the same type. Each subproblem has the same shape as the original, so recursion does the repeated work.</a:t>
            </a:r>
            <a:endParaRPr lang="en-US" sz="2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5" y="5101431"/>
            <a:ext cx="4267093" cy="48170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09585" y="5721568"/>
            <a:ext cx="4267093" cy="89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675D5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= number of subproblems · b = shrink factor · f(n) = divide-and-combine cost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5181371" y="2182614"/>
            <a:ext cx="1930352" cy="4419005"/>
          </a:xfrm>
          <a:prstGeom prst="roundRect">
            <a:avLst>
              <a:gd name="adj" fmla="val 20526"/>
            </a:avLst>
          </a:prstGeom>
          <a:solidFill>
            <a:srgbClr val="F7E3A0"/>
          </a:solidFill>
          <a:ln/>
        </p:spPr>
      </p:sp>
      <p:sp>
        <p:nvSpPr>
          <p:cNvPr id="7" name="Text 4"/>
          <p:cNvSpPr/>
          <p:nvPr/>
        </p:nvSpPr>
        <p:spPr>
          <a:xfrm>
            <a:off x="5409965" y="2411214"/>
            <a:ext cx="943547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Lexend Deca SemiBold" pitchFamily="34" charset="0"/>
                <a:ea typeface="Lexend Deca SemiBold" pitchFamily="34" charset="-122"/>
                <a:cs typeface="Lexend Deca SemiBold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5409965" y="2839839"/>
            <a:ext cx="1473163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dirty="0">
                <a:solidFill>
                  <a:srgbClr val="000000"/>
                </a:solidFill>
                <a:latin typeface="Lexend Deca Medium" pitchFamily="34" charset="0"/>
                <a:ea typeface="Lexend Deca Medium" pitchFamily="34" charset="-122"/>
                <a:cs typeface="Lexend Deca Medium" pitchFamily="34" charset="-120"/>
              </a:rPr>
              <a:t>Divide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5409965" y="3491349"/>
            <a:ext cx="1473163" cy="23467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Split the problem into smaller subproblems.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7416515" y="2182614"/>
            <a:ext cx="1930352" cy="4419005"/>
          </a:xfrm>
          <a:prstGeom prst="roundRect">
            <a:avLst>
              <a:gd name="adj" fmla="val 20526"/>
            </a:avLst>
          </a:prstGeom>
          <a:solidFill>
            <a:srgbClr val="B7C35A"/>
          </a:solidFill>
          <a:ln/>
        </p:spPr>
      </p:sp>
      <p:sp>
        <p:nvSpPr>
          <p:cNvPr id="11" name="Text 8"/>
          <p:cNvSpPr/>
          <p:nvPr/>
        </p:nvSpPr>
        <p:spPr>
          <a:xfrm>
            <a:off x="7645110" y="2411214"/>
            <a:ext cx="945233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Lexend Deca SemiBold" pitchFamily="34" charset="0"/>
                <a:ea typeface="Lexend Deca SemiBold" pitchFamily="34" charset="-122"/>
                <a:cs typeface="Lexend Deca SemiBold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7645110" y="2839839"/>
            <a:ext cx="1473163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dirty="0">
                <a:solidFill>
                  <a:srgbClr val="000000"/>
                </a:solidFill>
                <a:latin typeface="Lexend Deca Medium" pitchFamily="34" charset="0"/>
                <a:ea typeface="Lexend Deca Medium" pitchFamily="34" charset="-122"/>
                <a:cs typeface="Lexend Deca Medium" pitchFamily="34" charset="-120"/>
              </a:rPr>
              <a:t>Conquer</a:t>
            </a:r>
            <a:endParaRPr lang="en-US" sz="2800" dirty="0"/>
          </a:p>
        </p:txBody>
      </p:sp>
      <p:sp>
        <p:nvSpPr>
          <p:cNvPr id="13" name="Text 10"/>
          <p:cNvSpPr/>
          <p:nvPr/>
        </p:nvSpPr>
        <p:spPr>
          <a:xfrm>
            <a:off x="7645110" y="3935849"/>
            <a:ext cx="1473163" cy="15644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Solve each one, usually by recursion.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9651659" y="2182614"/>
            <a:ext cx="1930451" cy="4419005"/>
          </a:xfrm>
          <a:prstGeom prst="roundRect">
            <a:avLst>
              <a:gd name="adj" fmla="val 20525"/>
            </a:avLst>
          </a:prstGeom>
          <a:solidFill>
            <a:srgbClr val="8DB3E2"/>
          </a:solidFill>
          <a:ln/>
        </p:spPr>
      </p:sp>
      <p:sp>
        <p:nvSpPr>
          <p:cNvPr id="15" name="Text 12"/>
          <p:cNvSpPr/>
          <p:nvPr/>
        </p:nvSpPr>
        <p:spPr>
          <a:xfrm>
            <a:off x="9880254" y="2411214"/>
            <a:ext cx="951583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Lexend Deca SemiBold" pitchFamily="34" charset="0"/>
                <a:ea typeface="Lexend Deca SemiBold" pitchFamily="34" charset="-122"/>
                <a:cs typeface="Lexend Deca SemiBold" pitchFamily="34" charset="-120"/>
              </a:rPr>
              <a:t>03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9880254" y="2839839"/>
            <a:ext cx="1473262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dirty="0">
                <a:solidFill>
                  <a:srgbClr val="000000"/>
                </a:solidFill>
                <a:latin typeface="Lexend Deca Medium" pitchFamily="34" charset="0"/>
                <a:ea typeface="Lexend Deca Medium" pitchFamily="34" charset="-122"/>
                <a:cs typeface="Lexend Deca Medium" pitchFamily="34" charset="-120"/>
              </a:rPr>
              <a:t>Combine</a:t>
            </a:r>
            <a:endParaRPr lang="en-US" sz="2800" dirty="0"/>
          </a:p>
        </p:txBody>
      </p:sp>
      <p:sp>
        <p:nvSpPr>
          <p:cNvPr id="17" name="Text 14"/>
          <p:cNvSpPr/>
          <p:nvPr/>
        </p:nvSpPr>
        <p:spPr>
          <a:xfrm>
            <a:off x="9880254" y="3935849"/>
            <a:ext cx="1473262" cy="23467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Merge the sub-solutions into the final answer.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33405"/>
            <a:ext cx="10972526" cy="438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200" b="1" kern="100" spc="-16" dirty="0">
                <a:solidFill>
                  <a:srgbClr val="2E2A26"/>
                </a:solidFill>
                <a:latin typeface="DynaPuff Bold" pitchFamily="34" charset="0"/>
                <a:ea typeface="DynaPuff Bold" pitchFamily="34" charset="-122"/>
                <a:cs typeface="DynaPuff Bold" pitchFamily="34" charset="-120"/>
              </a:rPr>
              <a:t>Binary Search discards half the range each time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09585" y="1366579"/>
            <a:ext cx="11582110" cy="391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2200" dirty="0">
                <a:solidFill>
                  <a:srgbClr val="2E2A2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Sorted array: compare the middle, then discard half the range.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09585" y="2030115"/>
            <a:ext cx="3454314" cy="2858095"/>
          </a:xfrm>
          <a:prstGeom prst="roundRect">
            <a:avLst>
              <a:gd name="adj" fmla="val 13863"/>
            </a:avLst>
          </a:prstGeom>
          <a:solidFill>
            <a:srgbClr val="F7E3A0"/>
          </a:solidFill>
          <a:ln/>
        </p:spPr>
      </p:sp>
      <p:sp>
        <p:nvSpPr>
          <p:cNvPr id="5" name="Text 3"/>
          <p:cNvSpPr/>
          <p:nvPr/>
        </p:nvSpPr>
        <p:spPr>
          <a:xfrm>
            <a:off x="838179" y="2258715"/>
            <a:ext cx="943547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Lexend Deca SemiBold" pitchFamily="34" charset="0"/>
                <a:ea typeface="Lexend Deca SemiBold" pitchFamily="34" charset="-122"/>
                <a:cs typeface="Lexend Deca SemiBold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838179" y="2649934"/>
            <a:ext cx="2997125" cy="19050"/>
          </a:xfrm>
          <a:prstGeom prst="rect">
            <a:avLst/>
          </a:prstGeom>
          <a:solidFill>
            <a:srgbClr val="F58A74"/>
          </a:solidFill>
          <a:ln/>
        </p:spPr>
      </p:sp>
      <p:sp>
        <p:nvSpPr>
          <p:cNvPr id="7" name="Text 5"/>
          <p:cNvSpPr/>
          <p:nvPr/>
        </p:nvSpPr>
        <p:spPr>
          <a:xfrm>
            <a:off x="838179" y="2815034"/>
            <a:ext cx="2997125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Lexend Deca Medium" pitchFamily="34" charset="0"/>
                <a:ea typeface="Lexend Deca Medium" pitchFamily="34" charset="-122"/>
                <a:cs typeface="Lexend Deca Medium" pitchFamily="34" charset="-120"/>
              </a:rPr>
              <a:t>Compare 40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38179" y="3406219"/>
            <a:ext cx="2997125" cy="782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30 is smaller → go left.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38179" y="4373880"/>
            <a:ext cx="3225719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[10, 20, </a:t>
            </a:r>
            <a:r>
              <a:rPr lang="en-US" sz="1800" b="1" dirty="0">
                <a:solidFill>
                  <a:srgbClr val="000000"/>
                </a:solidFill>
                <a:latin typeface="Lexend Deca Bold" pitchFamily="34" charset="0"/>
                <a:ea typeface="Lexend Deca Bold" pitchFamily="34" charset="-122"/>
                <a:cs typeface="Lexend Deca Bold" pitchFamily="34" charset="-120"/>
              </a:rPr>
              <a:t>30</a:t>
            </a:r>
            <a:r>
              <a:rPr lang="en-US" sz="1800" dirty="0">
                <a:solidFill>
                  <a:srgbClr val="000000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, 40, 50, 60, 70]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368691" y="2030115"/>
            <a:ext cx="3454314" cy="2858095"/>
          </a:xfrm>
          <a:prstGeom prst="roundRect">
            <a:avLst>
              <a:gd name="adj" fmla="val 13863"/>
            </a:avLst>
          </a:prstGeom>
          <a:solidFill>
            <a:srgbClr val="B7C35A"/>
          </a:solidFill>
          <a:ln/>
        </p:spPr>
      </p:sp>
      <p:sp>
        <p:nvSpPr>
          <p:cNvPr id="11" name="Text 9"/>
          <p:cNvSpPr/>
          <p:nvPr/>
        </p:nvSpPr>
        <p:spPr>
          <a:xfrm>
            <a:off x="4597285" y="2258715"/>
            <a:ext cx="945233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Lexend Deca SemiBold" pitchFamily="34" charset="0"/>
                <a:ea typeface="Lexend Deca SemiBold" pitchFamily="34" charset="-122"/>
                <a:cs typeface="Lexend Deca SemiBold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4597285" y="2649934"/>
            <a:ext cx="2997125" cy="19050"/>
          </a:xfrm>
          <a:prstGeom prst="rect">
            <a:avLst/>
          </a:prstGeom>
          <a:solidFill>
            <a:srgbClr val="F58A74"/>
          </a:solidFill>
          <a:ln/>
        </p:spPr>
      </p:sp>
      <p:sp>
        <p:nvSpPr>
          <p:cNvPr id="13" name="Text 11"/>
          <p:cNvSpPr/>
          <p:nvPr/>
        </p:nvSpPr>
        <p:spPr>
          <a:xfrm>
            <a:off x="4597285" y="2815034"/>
            <a:ext cx="2997125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Lexend Deca Medium" pitchFamily="34" charset="0"/>
                <a:ea typeface="Lexend Deca Medium" pitchFamily="34" charset="-122"/>
                <a:cs typeface="Lexend Deca Medium" pitchFamily="34" charset="-120"/>
              </a:rPr>
              <a:t>Compare 20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597285" y="3406219"/>
            <a:ext cx="2997125" cy="782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30 is larger → go right.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8127797" y="2030115"/>
            <a:ext cx="3454314" cy="2858095"/>
          </a:xfrm>
          <a:prstGeom prst="roundRect">
            <a:avLst>
              <a:gd name="adj" fmla="val 13863"/>
            </a:avLst>
          </a:prstGeom>
          <a:solidFill>
            <a:srgbClr val="8DB3E2"/>
          </a:solidFill>
          <a:ln/>
        </p:spPr>
      </p:sp>
      <p:sp>
        <p:nvSpPr>
          <p:cNvPr id="16" name="Text 14"/>
          <p:cNvSpPr/>
          <p:nvPr/>
        </p:nvSpPr>
        <p:spPr>
          <a:xfrm>
            <a:off x="8356391" y="2258715"/>
            <a:ext cx="951583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Lexend Deca SemiBold" pitchFamily="34" charset="0"/>
                <a:ea typeface="Lexend Deca SemiBold" pitchFamily="34" charset="-122"/>
                <a:cs typeface="Lexend Deca SemiBold" pitchFamily="34" charset="-120"/>
              </a:rPr>
              <a:t>03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8356391" y="2649934"/>
            <a:ext cx="2997125" cy="19050"/>
          </a:xfrm>
          <a:prstGeom prst="rect">
            <a:avLst/>
          </a:prstGeom>
          <a:solidFill>
            <a:srgbClr val="F58A74"/>
          </a:solidFill>
          <a:ln/>
        </p:spPr>
      </p:sp>
      <p:sp>
        <p:nvSpPr>
          <p:cNvPr id="18" name="Text 16"/>
          <p:cNvSpPr/>
          <p:nvPr/>
        </p:nvSpPr>
        <p:spPr>
          <a:xfrm>
            <a:off x="8356391" y="2815034"/>
            <a:ext cx="2997125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Lexend Deca Medium" pitchFamily="34" charset="0"/>
                <a:ea typeface="Lexend Deca Medium" pitchFamily="34" charset="-122"/>
                <a:cs typeface="Lexend Deca Medium" pitchFamily="34" charset="-120"/>
              </a:rPr>
              <a:t>Find 30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8356391" y="3406219"/>
            <a:ext cx="2997125" cy="782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remaining middle value is the target.</a:t>
            </a:r>
            <a:endParaRPr lang="en-US" sz="2200" dirty="0"/>
          </a:p>
        </p:txBody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5" y="5167610"/>
            <a:ext cx="10972526" cy="481707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609585" y="5787747"/>
            <a:ext cx="11582110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675D5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Time: O(log n)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26745"/>
            <a:ext cx="11582110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kern="100" spc="18" dirty="0">
                <a:solidFill>
                  <a:srgbClr val="2E2A26"/>
                </a:solidFill>
                <a:latin typeface="Lexend Deca SemiBold" pitchFamily="34" charset="0"/>
                <a:ea typeface="Lexend Deca SemiBold" pitchFamily="34" charset="-122"/>
                <a:cs typeface="Lexend Deca SemiBold" pitchFamily="34" charset="-120"/>
              </a:rPr>
              <a:t>SORTING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609585" y="1044131"/>
            <a:ext cx="10972526" cy="1261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4600" b="1" kern="100" spc="-23" dirty="0">
                <a:solidFill>
                  <a:srgbClr val="2E2A26"/>
                </a:solidFill>
                <a:latin typeface="DynaPuff Bold" pitchFamily="34" charset="0"/>
                <a:ea typeface="DynaPuff Bold" pitchFamily="34" charset="-122"/>
                <a:cs typeface="DynaPuff Bold" pitchFamily="34" charset="-120"/>
              </a:rPr>
              <a:t>Merge Sort delivers predictable performance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609585" y="2590840"/>
            <a:ext cx="4267093" cy="1173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2200" dirty="0">
                <a:solidFill>
                  <a:srgbClr val="2E2A2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Halve the array until each part has one element, then merge sorted halves.</a:t>
            </a:r>
            <a:endParaRPr lang="en-US" sz="22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5" y="3938191"/>
            <a:ext cx="4267093" cy="48170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09585" y="4546898"/>
            <a:ext cx="4267093" cy="1369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675D5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Time: O(n log n) in best, average, and worst cases · Extra space: O(n)</a:t>
            </a:r>
            <a:endParaRPr lang="en-US" sz="18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675D5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Trade-off: predictable and stable, but needs extra memory.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5181371" y="3205857"/>
            <a:ext cx="1485863" cy="2420441"/>
          </a:xfrm>
          <a:prstGeom prst="roundRect">
            <a:avLst>
              <a:gd name="adj" fmla="val 26667"/>
            </a:avLst>
          </a:prstGeom>
          <a:solidFill>
            <a:srgbClr val="F7E3A0"/>
          </a:solidFill>
          <a:ln/>
        </p:spPr>
      </p:sp>
      <p:sp>
        <p:nvSpPr>
          <p:cNvPr id="8" name="Text 5"/>
          <p:cNvSpPr/>
          <p:nvPr/>
        </p:nvSpPr>
        <p:spPr>
          <a:xfrm>
            <a:off x="5409965" y="3434457"/>
            <a:ext cx="943547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Lexend Deca SemiBold" pitchFamily="34" charset="0"/>
                <a:ea typeface="Lexend Deca SemiBold" pitchFamily="34" charset="-122"/>
                <a:cs typeface="Lexend Deca SemiBold" pitchFamily="34" charset="-120"/>
              </a:rPr>
              <a:t>01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5409965" y="3825577"/>
            <a:ext cx="1028674" cy="19050"/>
          </a:xfrm>
          <a:prstGeom prst="rect">
            <a:avLst/>
          </a:prstGeom>
          <a:solidFill>
            <a:srgbClr val="F58A74"/>
          </a:solidFill>
          <a:ln/>
        </p:spPr>
      </p:sp>
      <p:sp>
        <p:nvSpPr>
          <p:cNvPr id="10" name="Text 7"/>
          <p:cNvSpPr/>
          <p:nvPr/>
        </p:nvSpPr>
        <p:spPr>
          <a:xfrm>
            <a:off x="5409965" y="4031258"/>
            <a:ext cx="1028674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Lexend Deca Medium" pitchFamily="34" charset="0"/>
                <a:ea typeface="Lexend Deca Medium" pitchFamily="34" charset="-122"/>
                <a:cs typeface="Lexend Deca Medium" pitchFamily="34" charset="-120"/>
              </a:rPr>
              <a:t>Split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5409965" y="4622443"/>
            <a:ext cx="1028674" cy="782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[8, 4, 6, 2]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6819630" y="3205857"/>
            <a:ext cx="1485863" cy="2420441"/>
          </a:xfrm>
          <a:prstGeom prst="roundRect">
            <a:avLst>
              <a:gd name="adj" fmla="val 26667"/>
            </a:avLst>
          </a:prstGeom>
          <a:solidFill>
            <a:srgbClr val="F4BCD0"/>
          </a:solidFill>
          <a:ln/>
        </p:spPr>
      </p:sp>
      <p:sp>
        <p:nvSpPr>
          <p:cNvPr id="13" name="Text 10"/>
          <p:cNvSpPr/>
          <p:nvPr/>
        </p:nvSpPr>
        <p:spPr>
          <a:xfrm>
            <a:off x="7048224" y="3434457"/>
            <a:ext cx="945233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Lexend Deca SemiBold" pitchFamily="34" charset="0"/>
                <a:ea typeface="Lexend Deca SemiBold" pitchFamily="34" charset="-122"/>
                <a:cs typeface="Lexend Deca SemiBold" pitchFamily="34" charset="-120"/>
              </a:rPr>
              <a:t>02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7048224" y="3825577"/>
            <a:ext cx="1028674" cy="19050"/>
          </a:xfrm>
          <a:prstGeom prst="rect">
            <a:avLst/>
          </a:prstGeom>
          <a:solidFill>
            <a:srgbClr val="F58A74"/>
          </a:solidFill>
          <a:ln/>
        </p:spPr>
      </p:sp>
      <p:sp>
        <p:nvSpPr>
          <p:cNvPr id="15" name="Text 12"/>
          <p:cNvSpPr/>
          <p:nvPr/>
        </p:nvSpPr>
        <p:spPr>
          <a:xfrm>
            <a:off x="7048224" y="4031258"/>
            <a:ext cx="1028674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Lexend Deca Medium" pitchFamily="34" charset="0"/>
                <a:ea typeface="Lexend Deca Medium" pitchFamily="34" charset="-122"/>
                <a:cs typeface="Lexend Deca Medium" pitchFamily="34" charset="-120"/>
              </a:rPr>
              <a:t>Halve</a:t>
            </a:r>
            <a:endParaRPr lang="en-US" sz="2400" dirty="0"/>
          </a:p>
        </p:txBody>
      </p:sp>
      <p:sp>
        <p:nvSpPr>
          <p:cNvPr id="16" name="Text 13"/>
          <p:cNvSpPr/>
          <p:nvPr/>
        </p:nvSpPr>
        <p:spPr>
          <a:xfrm>
            <a:off x="7048224" y="4622443"/>
            <a:ext cx="1028674" cy="782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[8, 4] + [6, 2]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457889" y="3205857"/>
            <a:ext cx="1485863" cy="2420441"/>
          </a:xfrm>
          <a:prstGeom prst="roundRect">
            <a:avLst>
              <a:gd name="adj" fmla="val 26667"/>
            </a:avLst>
          </a:prstGeom>
          <a:solidFill>
            <a:srgbClr val="B7C35A"/>
          </a:solidFill>
          <a:ln/>
        </p:spPr>
      </p:sp>
      <p:sp>
        <p:nvSpPr>
          <p:cNvPr id="18" name="Text 15"/>
          <p:cNvSpPr/>
          <p:nvPr/>
        </p:nvSpPr>
        <p:spPr>
          <a:xfrm>
            <a:off x="8686483" y="3434457"/>
            <a:ext cx="951583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Lexend Deca SemiBold" pitchFamily="34" charset="0"/>
                <a:ea typeface="Lexend Deca SemiBold" pitchFamily="34" charset="-122"/>
                <a:cs typeface="Lexend Deca SemiBold" pitchFamily="34" charset="-120"/>
              </a:rPr>
              <a:t>03</a:t>
            </a:r>
            <a:endParaRPr lang="en-US" sz="2200" dirty="0"/>
          </a:p>
        </p:txBody>
      </p:sp>
      <p:sp>
        <p:nvSpPr>
          <p:cNvPr id="19" name="Shape 16"/>
          <p:cNvSpPr/>
          <p:nvPr/>
        </p:nvSpPr>
        <p:spPr>
          <a:xfrm>
            <a:off x="8686483" y="3825577"/>
            <a:ext cx="1028674" cy="19050"/>
          </a:xfrm>
          <a:prstGeom prst="rect">
            <a:avLst/>
          </a:prstGeom>
          <a:solidFill>
            <a:srgbClr val="F58A74"/>
          </a:solidFill>
          <a:ln/>
        </p:spPr>
      </p:sp>
      <p:sp>
        <p:nvSpPr>
          <p:cNvPr id="20" name="Text 17"/>
          <p:cNvSpPr/>
          <p:nvPr/>
        </p:nvSpPr>
        <p:spPr>
          <a:xfrm>
            <a:off x="8686483" y="4031258"/>
            <a:ext cx="1028674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Lexend Deca Medium" pitchFamily="34" charset="0"/>
                <a:ea typeface="Lexend Deca Medium" pitchFamily="34" charset="-122"/>
                <a:cs typeface="Lexend Deca Medium" pitchFamily="34" charset="-120"/>
              </a:rPr>
              <a:t>Sort</a:t>
            </a:r>
            <a:endParaRPr lang="en-US" sz="2400" dirty="0"/>
          </a:p>
        </p:txBody>
      </p:sp>
      <p:sp>
        <p:nvSpPr>
          <p:cNvPr id="21" name="Text 18"/>
          <p:cNvSpPr/>
          <p:nvPr/>
        </p:nvSpPr>
        <p:spPr>
          <a:xfrm>
            <a:off x="8686483" y="4622443"/>
            <a:ext cx="1028674" cy="782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[4, 8] + [2, 6]</a:t>
            </a:r>
            <a:endParaRPr lang="en-US" sz="2200" dirty="0"/>
          </a:p>
        </p:txBody>
      </p:sp>
      <p:sp>
        <p:nvSpPr>
          <p:cNvPr id="22" name="Shape 19"/>
          <p:cNvSpPr/>
          <p:nvPr/>
        </p:nvSpPr>
        <p:spPr>
          <a:xfrm>
            <a:off x="10096148" y="3205857"/>
            <a:ext cx="1485962" cy="2420441"/>
          </a:xfrm>
          <a:prstGeom prst="roundRect">
            <a:avLst>
              <a:gd name="adj" fmla="val 26665"/>
            </a:avLst>
          </a:prstGeom>
          <a:solidFill>
            <a:srgbClr val="8DB3E2"/>
          </a:solidFill>
          <a:ln/>
        </p:spPr>
      </p:sp>
      <p:sp>
        <p:nvSpPr>
          <p:cNvPr id="23" name="Text 20"/>
          <p:cNvSpPr/>
          <p:nvPr/>
        </p:nvSpPr>
        <p:spPr>
          <a:xfrm>
            <a:off x="10324742" y="3434457"/>
            <a:ext cx="973113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Lexend Deca SemiBold" pitchFamily="34" charset="0"/>
                <a:ea typeface="Lexend Deca SemiBold" pitchFamily="34" charset="-122"/>
                <a:cs typeface="Lexend Deca SemiBold" pitchFamily="34" charset="-120"/>
              </a:rPr>
              <a:t>04</a:t>
            </a:r>
            <a:endParaRPr lang="en-US" sz="2200" dirty="0"/>
          </a:p>
        </p:txBody>
      </p:sp>
      <p:sp>
        <p:nvSpPr>
          <p:cNvPr id="24" name="Shape 21"/>
          <p:cNvSpPr/>
          <p:nvPr/>
        </p:nvSpPr>
        <p:spPr>
          <a:xfrm>
            <a:off x="10324742" y="3825577"/>
            <a:ext cx="1028674" cy="19050"/>
          </a:xfrm>
          <a:prstGeom prst="rect">
            <a:avLst/>
          </a:prstGeom>
          <a:solidFill>
            <a:srgbClr val="F58A74"/>
          </a:solidFill>
          <a:ln/>
        </p:spPr>
      </p:sp>
      <p:sp>
        <p:nvSpPr>
          <p:cNvPr id="25" name="Text 22"/>
          <p:cNvSpPr/>
          <p:nvPr/>
        </p:nvSpPr>
        <p:spPr>
          <a:xfrm>
            <a:off x="10324742" y="4031258"/>
            <a:ext cx="1028773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Lexend Deca Medium" pitchFamily="34" charset="0"/>
                <a:ea typeface="Lexend Deca Medium" pitchFamily="34" charset="-122"/>
                <a:cs typeface="Lexend Deca Medium" pitchFamily="34" charset="-120"/>
              </a:rPr>
              <a:t>Merge</a:t>
            </a:r>
            <a:endParaRPr lang="en-US" sz="2400" dirty="0"/>
          </a:p>
        </p:txBody>
      </p:sp>
      <p:sp>
        <p:nvSpPr>
          <p:cNvPr id="26" name="Text 23"/>
          <p:cNvSpPr/>
          <p:nvPr/>
        </p:nvSpPr>
        <p:spPr>
          <a:xfrm>
            <a:off x="10324742" y="4622443"/>
            <a:ext cx="1028773" cy="782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[2, 4, 6, 8]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39580"/>
            <a:ext cx="5333867" cy="1620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950" b="1" kern="100" spc="-20" dirty="0">
                <a:solidFill>
                  <a:srgbClr val="2E2A26"/>
                </a:solidFill>
                <a:latin typeface="DynaPuff Bold" pitchFamily="34" charset="0"/>
                <a:ea typeface="DynaPuff Bold" pitchFamily="34" charset="-122"/>
                <a:cs typeface="DynaPuff Bold" pitchFamily="34" charset="-120"/>
              </a:rPr>
              <a:t>Quick Sort partitions around a pivot</a:t>
            </a:r>
            <a:endParaRPr lang="en-US" sz="3950" dirty="0"/>
          </a:p>
        </p:txBody>
      </p:sp>
      <p:sp>
        <p:nvSpPr>
          <p:cNvPr id="3" name="Text 1"/>
          <p:cNvSpPr/>
          <p:nvPr/>
        </p:nvSpPr>
        <p:spPr>
          <a:xfrm>
            <a:off x="609585" y="2458045"/>
            <a:ext cx="5333867" cy="16863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spcAft>
                <a:spcPts val="1000"/>
              </a:spcAft>
              <a:buNone/>
            </a:pPr>
            <a:r>
              <a:rPr lang="en-US" sz="1900" dirty="0">
                <a:solidFill>
                  <a:srgbClr val="2E2A2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Choose a pivot; put smaller elements on the left and larger elements on the right, then sort each side recursively.</a:t>
            </a:r>
            <a:endParaRPr lang="en-US" sz="19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900" b="1" dirty="0">
                <a:solidFill>
                  <a:srgbClr val="2E2A26"/>
                </a:solidFill>
                <a:latin typeface="Lexend Deca Bold" pitchFamily="34" charset="0"/>
                <a:ea typeface="Lexend Deca Bold" pitchFamily="34" charset="-122"/>
                <a:cs typeface="Lexend Deca Bold" pitchFamily="34" charset="-120"/>
              </a:rPr>
              <a:t>Time:</a:t>
            </a:r>
            <a:r>
              <a:rPr lang="en-US" sz="1900" dirty="0">
                <a:solidFill>
                  <a:srgbClr val="2E2A2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average O(n log n); worst O(n²) when partitions are very unbalanced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609585" y="4276923"/>
            <a:ext cx="2590735" cy="1700213"/>
          </a:xfrm>
          <a:prstGeom prst="roundRect">
            <a:avLst>
              <a:gd name="adj" fmla="val 23305"/>
            </a:avLst>
          </a:prstGeom>
          <a:solidFill>
            <a:srgbClr val="F7E3A0"/>
          </a:solidFill>
          <a:ln/>
        </p:spPr>
      </p:sp>
      <p:sp>
        <p:nvSpPr>
          <p:cNvPr id="5" name="Text 3"/>
          <p:cNvSpPr/>
          <p:nvPr/>
        </p:nvSpPr>
        <p:spPr>
          <a:xfrm>
            <a:off x="838179" y="4519229"/>
            <a:ext cx="2133547" cy="3261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50" dirty="0">
                <a:solidFill>
                  <a:srgbClr val="000000"/>
                </a:solidFill>
                <a:latin typeface="Lexend Deca Medium" pitchFamily="34" charset="0"/>
                <a:ea typeface="Lexend Deca Medium" pitchFamily="34" charset="-122"/>
                <a:cs typeface="Lexend Deca Medium" pitchFamily="34" charset="-120"/>
              </a:rPr>
              <a:t>Pivot 5</a:t>
            </a:r>
            <a:endParaRPr lang="en-US" sz="2050" dirty="0"/>
          </a:p>
        </p:txBody>
      </p:sp>
      <p:sp>
        <p:nvSpPr>
          <p:cNvPr id="6" name="Text 4"/>
          <p:cNvSpPr/>
          <p:nvPr/>
        </p:nvSpPr>
        <p:spPr>
          <a:xfrm>
            <a:off x="838179" y="4994473"/>
            <a:ext cx="2133547" cy="754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spcAft>
                <a:spcPts val="1000"/>
              </a:spcAft>
              <a:buNone/>
            </a:pPr>
            <a:r>
              <a:rPr lang="en-US" sz="1900" dirty="0">
                <a:solidFill>
                  <a:srgbClr val="000000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[6, 3, 8, 2, 5]</a:t>
            </a:r>
            <a:endParaRPr lang="en-US" sz="19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→ [3, 2] 5 [6, 8]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3352716" y="4276923"/>
            <a:ext cx="2590735" cy="1700213"/>
          </a:xfrm>
          <a:prstGeom prst="roundRect">
            <a:avLst>
              <a:gd name="adj" fmla="val 23305"/>
            </a:avLst>
          </a:prstGeom>
          <a:solidFill>
            <a:srgbClr val="8DB3E2"/>
          </a:solidFill>
          <a:ln/>
        </p:spPr>
      </p:sp>
      <p:sp>
        <p:nvSpPr>
          <p:cNvPr id="8" name="Text 6"/>
          <p:cNvSpPr/>
          <p:nvPr/>
        </p:nvSpPr>
        <p:spPr>
          <a:xfrm>
            <a:off x="3581310" y="4519229"/>
            <a:ext cx="2133547" cy="3261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50" dirty="0">
                <a:solidFill>
                  <a:srgbClr val="000000"/>
                </a:solidFill>
                <a:latin typeface="Lexend Deca Medium" pitchFamily="34" charset="0"/>
                <a:ea typeface="Lexend Deca Medium" pitchFamily="34" charset="-122"/>
                <a:cs typeface="Lexend Deca Medium" pitchFamily="34" charset="-120"/>
              </a:rPr>
              <a:t>Recurse</a:t>
            </a:r>
            <a:endParaRPr lang="en-US" sz="2050" dirty="0"/>
          </a:p>
        </p:txBody>
      </p:sp>
      <p:sp>
        <p:nvSpPr>
          <p:cNvPr id="9" name="Text 7"/>
          <p:cNvSpPr/>
          <p:nvPr/>
        </p:nvSpPr>
        <p:spPr>
          <a:xfrm>
            <a:off x="3581310" y="5007265"/>
            <a:ext cx="2362141" cy="3107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[2, 3, 5, 6, 8]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6248244" y="628765"/>
            <a:ext cx="5333867" cy="7610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2E2A26"/>
                </a:solidFill>
                <a:latin typeface="Lexend Deca Medium" pitchFamily="34" charset="0"/>
                <a:ea typeface="Lexend Deca Medium" pitchFamily="34" charset="-122"/>
                <a:cs typeface="Lexend Deca Medium" pitchFamily="34" charset="-120"/>
              </a:rPr>
              <a:t>Merge Sort and Quick Sort comparison</a:t>
            </a:r>
            <a:endParaRPr lang="en-US" sz="2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4144184"/>
              </p:ext>
            </p:extLst>
          </p:nvPr>
        </p:nvGraphicFramePr>
        <p:xfrm>
          <a:off x="6248244" y="1533426"/>
          <a:ext cx="5333867" cy="6046718"/>
        </p:xfrm>
        <a:graphic>
          <a:graphicData uri="http://schemas.openxmlformats.org/drawingml/2006/table">
            <a:tbl>
              <a:tblPr/>
              <a:tblGrid>
                <a:gridCol w="13804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541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992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962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900" dirty="0">
                          <a:solidFill>
                            <a:srgbClr val="2E2A26"/>
                          </a:solidFill>
                          <a:latin typeface="Lexend Deca" pitchFamily="34" charset="0"/>
                          <a:ea typeface="Lexend Deca" pitchFamily="34" charset="-122"/>
                          <a:cs typeface="Lexend Deca" pitchFamily="34" charset="-120"/>
                        </a:rPr>
                        <a:t>Feature</a:t>
                      </a:r>
                      <a:endParaRPr lang="en-US" sz="1900" dirty="0">
                        <a:latin typeface="Lexend Deca" charset="0"/>
                        <a:ea typeface="Lexend Deca" charset="0"/>
                        <a:cs typeface="Lexend Deca" charset="0"/>
                      </a:endParaRPr>
                    </a:p>
                  </a:txBody>
                  <a:tcPr marL="228594" marR="228594" marT="152396" marB="152396" anchor="ctr">
                    <a:lnL w="19050" cap="flat" cmpd="sng" algn="ctr">
                      <a:solidFill>
                        <a:srgbClr val="F7E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7E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7E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DBE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3A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900" dirty="0">
                          <a:solidFill>
                            <a:srgbClr val="2E2A26"/>
                          </a:solidFill>
                          <a:latin typeface="Lexend Deca" pitchFamily="34" charset="0"/>
                          <a:ea typeface="Lexend Deca" pitchFamily="34" charset="-122"/>
                          <a:cs typeface="Lexend Deca" pitchFamily="34" charset="-120"/>
                        </a:rPr>
                        <a:t>Merge Sort</a:t>
                      </a:r>
                      <a:endParaRPr lang="en-US" sz="1900" dirty="0">
                        <a:latin typeface="Lexend Deca" charset="0"/>
                        <a:ea typeface="Lexend Deca" charset="0"/>
                        <a:cs typeface="Lexend Deca" charset="0"/>
                      </a:endParaRPr>
                    </a:p>
                  </a:txBody>
                  <a:tcPr marL="228594" marR="228594" marT="152396" marB="152396" anchor="ctr">
                    <a:lnL w="19050" cap="flat" cmpd="sng" algn="ctr">
                      <a:solidFill>
                        <a:srgbClr val="F7E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7E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7E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DBE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3A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900" dirty="0">
                          <a:solidFill>
                            <a:srgbClr val="2E2A26"/>
                          </a:solidFill>
                          <a:latin typeface="Lexend Deca" pitchFamily="34" charset="0"/>
                          <a:ea typeface="Lexend Deca" pitchFamily="34" charset="-122"/>
                          <a:cs typeface="Lexend Deca" pitchFamily="34" charset="-120"/>
                        </a:rPr>
                        <a:t>Quick Sort</a:t>
                      </a:r>
                      <a:endParaRPr lang="en-US" sz="1900" dirty="0">
                        <a:latin typeface="Lexend Deca" charset="0"/>
                        <a:ea typeface="Lexend Deca" charset="0"/>
                        <a:cs typeface="Lexend Deca" charset="0"/>
                      </a:endParaRPr>
                    </a:p>
                  </a:txBody>
                  <a:tcPr marL="228594" marR="228594" marT="152396" marB="152396" anchor="ctr">
                    <a:lnL w="19050" cap="flat" cmpd="sng" algn="ctr">
                      <a:solidFill>
                        <a:srgbClr val="F7E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7E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7E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DBE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3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285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900" dirty="0">
                          <a:solidFill>
                            <a:srgbClr val="2E2A26"/>
                          </a:solidFill>
                          <a:latin typeface="Lexend Deca" pitchFamily="34" charset="0"/>
                          <a:ea typeface="Lexend Deca" pitchFamily="34" charset="-122"/>
                          <a:cs typeface="Lexend Deca" pitchFamily="34" charset="-120"/>
                        </a:rPr>
                        <a:t>Main work</a:t>
                      </a:r>
                      <a:endParaRPr lang="en-US" sz="1900" dirty="0">
                        <a:latin typeface="Lexend Deca" charset="0"/>
                        <a:ea typeface="Lexend Deca" charset="0"/>
                        <a:cs typeface="Lexend Deca" charset="0"/>
                      </a:endParaRPr>
                    </a:p>
                  </a:txBody>
                  <a:tcPr marL="228594" marR="228594" marT="152396" marB="152396" anchor="ctr">
                    <a:lnL w="19050" cap="flat" cmpd="sng" algn="ctr">
                      <a:solidFill>
                        <a:srgbClr val="FFF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DBE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DBE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900" dirty="0">
                          <a:solidFill>
                            <a:srgbClr val="2E2A26"/>
                          </a:solidFill>
                          <a:latin typeface="Lexend Deca" pitchFamily="34" charset="0"/>
                          <a:ea typeface="Lexend Deca" pitchFamily="34" charset="-122"/>
                          <a:cs typeface="Lexend Deca" pitchFamily="34" charset="-120"/>
                        </a:rPr>
                        <a:t>Combine (merge) step</a:t>
                      </a:r>
                      <a:endParaRPr lang="en-US" sz="1900" dirty="0">
                        <a:latin typeface="Lexend Deca" charset="0"/>
                        <a:ea typeface="Lexend Deca" charset="0"/>
                        <a:cs typeface="Lexend Deca" charset="0"/>
                      </a:endParaRPr>
                    </a:p>
                  </a:txBody>
                  <a:tcPr marL="228594" marR="228594" marT="152396" marB="152396" anchor="ctr">
                    <a:lnL w="19050" cap="flat" cmpd="sng" algn="ctr">
                      <a:solidFill>
                        <a:srgbClr val="FFF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DBE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DBE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900" dirty="0">
                          <a:solidFill>
                            <a:srgbClr val="2E2A26"/>
                          </a:solidFill>
                          <a:latin typeface="Lexend Deca" pitchFamily="34" charset="0"/>
                          <a:ea typeface="Lexend Deca" pitchFamily="34" charset="-122"/>
                          <a:cs typeface="Lexend Deca" pitchFamily="34" charset="-120"/>
                        </a:rPr>
                        <a:t>Divide (partition) step</a:t>
                      </a:r>
                      <a:endParaRPr lang="en-US" sz="1900" dirty="0">
                        <a:latin typeface="Lexend Deca" charset="0"/>
                        <a:ea typeface="Lexend Deca" charset="0"/>
                        <a:cs typeface="Lexend Deca" charset="0"/>
                      </a:endParaRPr>
                    </a:p>
                  </a:txBody>
                  <a:tcPr marL="228594" marR="228594" marT="152396" marB="152396" anchor="ctr">
                    <a:lnL w="19050" cap="flat" cmpd="sng" algn="ctr">
                      <a:solidFill>
                        <a:srgbClr val="FFF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DBE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DBE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40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900" dirty="0">
                          <a:solidFill>
                            <a:srgbClr val="2E2A26"/>
                          </a:solidFill>
                          <a:latin typeface="Lexend Deca" pitchFamily="34" charset="0"/>
                          <a:ea typeface="Lexend Deca" pitchFamily="34" charset="-122"/>
                          <a:cs typeface="Lexend Deca" pitchFamily="34" charset="-120"/>
                        </a:rPr>
                        <a:t>Worst case</a:t>
                      </a:r>
                      <a:endParaRPr lang="en-US" sz="1900" dirty="0">
                        <a:latin typeface="Lexend Deca" charset="0"/>
                        <a:ea typeface="Lexend Deca" charset="0"/>
                        <a:cs typeface="Lexend Deca" charset="0"/>
                      </a:endParaRPr>
                    </a:p>
                  </a:txBody>
                  <a:tcPr marL="228594" marR="228594" marT="152396" marB="152396" anchor="ctr">
                    <a:lnL w="19050" cap="flat" cmpd="sng" algn="ctr">
                      <a:solidFill>
                        <a:srgbClr val="FFF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DBE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DBE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900" dirty="0">
                          <a:solidFill>
                            <a:srgbClr val="2E2A26"/>
                          </a:solidFill>
                          <a:latin typeface="Lexend Deca" pitchFamily="34" charset="0"/>
                          <a:ea typeface="Lexend Deca" pitchFamily="34" charset="-122"/>
                          <a:cs typeface="Lexend Deca" pitchFamily="34" charset="-120"/>
                        </a:rPr>
                        <a:t>O(n log n)</a:t>
                      </a:r>
                      <a:endParaRPr lang="en-US" sz="1900" dirty="0">
                        <a:latin typeface="Lexend Deca" charset="0"/>
                        <a:ea typeface="Lexend Deca" charset="0"/>
                        <a:cs typeface="Lexend Deca" charset="0"/>
                      </a:endParaRPr>
                    </a:p>
                  </a:txBody>
                  <a:tcPr marL="228594" marR="228594" marT="152396" marB="152396" anchor="ctr">
                    <a:lnL w="19050" cap="flat" cmpd="sng" algn="ctr">
                      <a:solidFill>
                        <a:srgbClr val="FFF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DBE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DBE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900" dirty="0">
                          <a:solidFill>
                            <a:srgbClr val="2E2A26"/>
                          </a:solidFill>
                          <a:latin typeface="Lexend Deca" pitchFamily="34" charset="0"/>
                          <a:ea typeface="Lexend Deca" pitchFamily="34" charset="-122"/>
                          <a:cs typeface="Lexend Deca" pitchFamily="34" charset="-120"/>
                        </a:rPr>
                        <a:t>O(n²)</a:t>
                      </a:r>
                      <a:endParaRPr lang="en-US" sz="1900" dirty="0">
                        <a:latin typeface="Lexend Deca" charset="0"/>
                        <a:ea typeface="Lexend Deca" charset="0"/>
                        <a:cs typeface="Lexend Deca" charset="0"/>
                      </a:endParaRPr>
                    </a:p>
                  </a:txBody>
                  <a:tcPr marL="228594" marR="228594" marT="152396" marB="152396" anchor="ctr">
                    <a:lnL w="19050" cap="flat" cmpd="sng" algn="ctr">
                      <a:solidFill>
                        <a:srgbClr val="FFF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DBE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DBE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8297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900" dirty="0">
                          <a:solidFill>
                            <a:srgbClr val="2E2A26"/>
                          </a:solidFill>
                          <a:latin typeface="Lexend Deca" pitchFamily="34" charset="0"/>
                          <a:ea typeface="Lexend Deca" pitchFamily="34" charset="-122"/>
                          <a:cs typeface="Lexend Deca" pitchFamily="34" charset="-120"/>
                        </a:rPr>
                        <a:t>Extra space</a:t>
                      </a:r>
                      <a:endParaRPr lang="en-US" sz="1900" dirty="0">
                        <a:latin typeface="Lexend Deca" charset="0"/>
                        <a:ea typeface="Lexend Deca" charset="0"/>
                        <a:cs typeface="Lexend Deca" charset="0"/>
                      </a:endParaRPr>
                    </a:p>
                  </a:txBody>
                  <a:tcPr marL="228594" marR="228594" marT="152396" marB="152396" anchor="ctr">
                    <a:lnL w="19050" cap="flat" cmpd="sng" algn="ctr">
                      <a:solidFill>
                        <a:srgbClr val="FFF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DBE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DBE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900" dirty="0">
                          <a:solidFill>
                            <a:srgbClr val="2E2A26"/>
                          </a:solidFill>
                          <a:latin typeface="Lexend Deca" pitchFamily="34" charset="0"/>
                          <a:ea typeface="Lexend Deca" pitchFamily="34" charset="-122"/>
                          <a:cs typeface="Lexend Deca" pitchFamily="34" charset="-120"/>
                        </a:rPr>
                        <a:t>O(n)</a:t>
                      </a:r>
                      <a:endParaRPr lang="en-US" sz="1900" dirty="0">
                        <a:latin typeface="Lexend Deca" charset="0"/>
                        <a:ea typeface="Lexend Deca" charset="0"/>
                        <a:cs typeface="Lexend Deca" charset="0"/>
                      </a:endParaRPr>
                    </a:p>
                  </a:txBody>
                  <a:tcPr marL="228594" marR="228594" marT="152396" marB="152396" anchor="ctr">
                    <a:lnL w="19050" cap="flat" cmpd="sng" algn="ctr">
                      <a:solidFill>
                        <a:srgbClr val="FFF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DBE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DBE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900" dirty="0">
                          <a:solidFill>
                            <a:srgbClr val="2E2A26"/>
                          </a:solidFill>
                          <a:latin typeface="Lexend Deca" pitchFamily="34" charset="0"/>
                          <a:ea typeface="Lexend Deca" pitchFamily="34" charset="-122"/>
                          <a:cs typeface="Lexend Deca" pitchFamily="34" charset="-120"/>
                        </a:rPr>
                        <a:t>O(log n) average (recursion stack)</a:t>
                      </a:r>
                      <a:endParaRPr lang="en-US" sz="1900" dirty="0">
                        <a:latin typeface="Lexend Deca" charset="0"/>
                        <a:ea typeface="Lexend Deca" charset="0"/>
                        <a:cs typeface="Lexend Deca" charset="0"/>
                      </a:endParaRPr>
                    </a:p>
                  </a:txBody>
                  <a:tcPr marL="228594" marR="228594" marT="152396" marB="152396" anchor="ctr">
                    <a:lnL w="19050" cap="flat" cmpd="sng" algn="ctr">
                      <a:solidFill>
                        <a:srgbClr val="FFF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DBE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DBE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608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900" dirty="0">
                          <a:solidFill>
                            <a:srgbClr val="2E2A26"/>
                          </a:solidFill>
                          <a:latin typeface="Lexend Deca" pitchFamily="34" charset="0"/>
                          <a:ea typeface="Lexend Deca" pitchFamily="34" charset="-122"/>
                          <a:cs typeface="Lexend Deca" pitchFamily="34" charset="-120"/>
                        </a:rPr>
                        <a:t>Stable</a:t>
                      </a:r>
                      <a:endParaRPr lang="en-US" sz="1900" dirty="0">
                        <a:latin typeface="Lexend Deca" charset="0"/>
                        <a:ea typeface="Lexend Deca" charset="0"/>
                        <a:cs typeface="Lexend Deca" charset="0"/>
                      </a:endParaRPr>
                    </a:p>
                  </a:txBody>
                  <a:tcPr marL="228594" marR="228594" marT="152396" marB="152396" anchor="ctr">
                    <a:lnL w="19050" cap="flat" cmpd="sng" algn="ctr">
                      <a:solidFill>
                        <a:srgbClr val="FFF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DBE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DBE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900" dirty="0">
                          <a:solidFill>
                            <a:srgbClr val="2E2A26"/>
                          </a:solidFill>
                          <a:latin typeface="Lexend Deca" pitchFamily="34" charset="0"/>
                          <a:ea typeface="Lexend Deca" pitchFamily="34" charset="-122"/>
                          <a:cs typeface="Lexend Deca" pitchFamily="34" charset="-120"/>
                        </a:rPr>
                        <a:t>Yes</a:t>
                      </a:r>
                      <a:endParaRPr lang="en-US" sz="1900" dirty="0">
                        <a:latin typeface="Lexend Deca" charset="0"/>
                        <a:ea typeface="Lexend Deca" charset="0"/>
                        <a:cs typeface="Lexend Deca" charset="0"/>
                      </a:endParaRPr>
                    </a:p>
                  </a:txBody>
                  <a:tcPr marL="228594" marR="228594" marT="152396" marB="152396" anchor="ctr">
                    <a:lnL w="19050" cap="flat" cmpd="sng" algn="ctr">
                      <a:solidFill>
                        <a:srgbClr val="FFF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DBE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DBE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900" dirty="0">
                          <a:solidFill>
                            <a:srgbClr val="2E2A26"/>
                          </a:solidFill>
                          <a:latin typeface="Lexend Deca" pitchFamily="34" charset="0"/>
                          <a:ea typeface="Lexend Deca" pitchFamily="34" charset="-122"/>
                          <a:cs typeface="Lexend Deca" pitchFamily="34" charset="-120"/>
                        </a:rPr>
                        <a:t>No (standard version)</a:t>
                      </a:r>
                      <a:endParaRPr lang="en-US" sz="1900" dirty="0">
                        <a:latin typeface="Lexend Deca" charset="0"/>
                        <a:ea typeface="Lexend Deca" charset="0"/>
                        <a:cs typeface="Lexend Deca" charset="0"/>
                      </a:endParaRPr>
                    </a:p>
                  </a:txBody>
                  <a:tcPr marL="228594" marR="228594" marT="152396" marB="152396" anchor="ctr">
                    <a:lnL w="19050" cap="flat" cmpd="sng" algn="ctr">
                      <a:solidFill>
                        <a:srgbClr val="FFF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DBE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DBE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5847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900" dirty="0">
                        <a:latin typeface="Lexend Deca" charset="0"/>
                        <a:ea typeface="Lexend Deca" charset="0"/>
                        <a:cs typeface="Lexend Deca" charset="0"/>
                      </a:endParaRPr>
                    </a:p>
                  </a:txBody>
                  <a:tcPr marL="228594" marR="228594" marT="152396" marB="152396" anchor="ctr">
                    <a:lnL w="19050" cap="flat" cmpd="sng" algn="ctr">
                      <a:solidFill>
                        <a:srgbClr val="FFF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DBE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900" dirty="0">
                        <a:latin typeface="Lexend Deca" charset="0"/>
                        <a:ea typeface="Lexend Deca" charset="0"/>
                        <a:cs typeface="Lexend Deca" charset="0"/>
                      </a:endParaRPr>
                    </a:p>
                  </a:txBody>
                  <a:tcPr marL="228594" marR="228594" marT="152396" marB="152396" anchor="ctr">
                    <a:lnL w="19050" cap="flat" cmpd="sng" algn="ctr">
                      <a:solidFill>
                        <a:srgbClr val="FFF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DBE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900" dirty="0">
                        <a:latin typeface="Lexend Deca" charset="0"/>
                        <a:ea typeface="Lexend Deca" charset="0"/>
                        <a:cs typeface="Lexend Deca" charset="0"/>
                      </a:endParaRPr>
                    </a:p>
                  </a:txBody>
                  <a:tcPr marL="228594" marR="228594" marT="152396" marB="152396" anchor="ctr">
                    <a:lnL w="19050" cap="flat" cmpd="sng" algn="ctr">
                      <a:solidFill>
                        <a:srgbClr val="FFF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DBE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0546731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35277"/>
            <a:ext cx="10972526" cy="9874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600" b="1" kern="100" spc="-18" dirty="0">
                <a:solidFill>
                  <a:srgbClr val="2E2A26"/>
                </a:solidFill>
                <a:latin typeface="DynaPuff Bold" pitchFamily="34" charset="0"/>
                <a:ea typeface="DynaPuff Bold" pitchFamily="34" charset="-122"/>
                <a:cs typeface="DynaPuff Bold" pitchFamily="34" charset="-120"/>
              </a:rPr>
              <a:t>Strassen reduces matrix multiplication from eight blocks to seven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09585" y="1915160"/>
            <a:ext cx="10972526" cy="782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2200" dirty="0">
                <a:solidFill>
                  <a:srgbClr val="2E2A2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Both methods split each matrix into four blocks; Strassen reduces the expensive multiplication count.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09585" y="2969816"/>
            <a:ext cx="5410065" cy="1753791"/>
          </a:xfrm>
          <a:prstGeom prst="roundRect">
            <a:avLst>
              <a:gd name="adj" fmla="val 22593"/>
            </a:avLst>
          </a:prstGeom>
          <a:solidFill>
            <a:srgbClr val="F7E3A0"/>
          </a:solidFill>
          <a:ln/>
        </p:spPr>
      </p:sp>
      <p:sp>
        <p:nvSpPr>
          <p:cNvPr id="5" name="Text 3"/>
          <p:cNvSpPr/>
          <p:nvPr/>
        </p:nvSpPr>
        <p:spPr>
          <a:xfrm>
            <a:off x="761981" y="3144441"/>
            <a:ext cx="5105272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dirty="0">
                <a:solidFill>
                  <a:srgbClr val="000000"/>
                </a:solidFill>
                <a:latin typeface="Lexend Deca Medium" pitchFamily="34" charset="0"/>
                <a:ea typeface="Lexend Deca Medium" pitchFamily="34" charset="-122"/>
                <a:cs typeface="Lexend Deca Medium" pitchFamily="34" charset="-120"/>
              </a:rPr>
              <a:t>Standard method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61981" y="3795951"/>
            <a:ext cx="5257668" cy="391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Eight block multiplications give O(n³).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6172046" y="2969816"/>
            <a:ext cx="5410065" cy="1753791"/>
          </a:xfrm>
          <a:prstGeom prst="roundRect">
            <a:avLst>
              <a:gd name="adj" fmla="val 22593"/>
            </a:avLst>
          </a:prstGeom>
          <a:solidFill>
            <a:srgbClr val="B7C35A"/>
          </a:solidFill>
          <a:ln/>
        </p:spPr>
      </p:sp>
      <p:sp>
        <p:nvSpPr>
          <p:cNvPr id="8" name="Text 6"/>
          <p:cNvSpPr/>
          <p:nvPr/>
        </p:nvSpPr>
        <p:spPr>
          <a:xfrm>
            <a:off x="6324442" y="3144441"/>
            <a:ext cx="5105272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dirty="0">
                <a:solidFill>
                  <a:srgbClr val="000000"/>
                </a:solidFill>
                <a:latin typeface="Lexend Deca Medium" pitchFamily="34" charset="0"/>
                <a:ea typeface="Lexend Deca Medium" pitchFamily="34" charset="-122"/>
                <a:cs typeface="Lexend Deca Medium" pitchFamily="34" charset="-120"/>
              </a:rPr>
              <a:t>Strassen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6324442" y="3795951"/>
            <a:ext cx="5105272" cy="782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Seven block multiplications (M1 to M7), plus additions and subtractions.</a:t>
            </a:r>
            <a:endParaRPr lang="en-US" sz="22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5" y="5003006"/>
            <a:ext cx="10972526" cy="481707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09585" y="5623143"/>
            <a:ext cx="11582110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675D5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Time: O(n^2.807); useful for large matrices, though practical speed depends on implementation.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42890"/>
            <a:ext cx="10972526" cy="1261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4600" b="1" kern="100" spc="-23" dirty="0">
                <a:solidFill>
                  <a:srgbClr val="2E2A26"/>
                </a:solidFill>
                <a:latin typeface="DynaPuff Bold" pitchFamily="34" charset="0"/>
                <a:ea typeface="DynaPuff Bold" pitchFamily="34" charset="-122"/>
                <a:cs typeface="DynaPuff Bold" pitchFamily="34" charset="-120"/>
              </a:rPr>
              <a:t>Divide and conquer can find both extremes efficiently</a:t>
            </a:r>
            <a:endParaRPr lang="en-US" sz="4600" dirty="0"/>
          </a:p>
        </p:txBody>
      </p:sp>
      <p:sp>
        <p:nvSpPr>
          <p:cNvPr id="3" name="Text 1"/>
          <p:cNvSpPr/>
          <p:nvPr/>
        </p:nvSpPr>
        <p:spPr>
          <a:xfrm>
            <a:off x="609585" y="2182614"/>
            <a:ext cx="4267093" cy="3490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spcAft>
                <a:spcPts val="1400"/>
              </a:spcAft>
              <a:buNone/>
            </a:pPr>
            <a:r>
              <a:rPr lang="en-US" sz="2200" dirty="0">
                <a:solidFill>
                  <a:srgbClr val="2E2A2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Split the array into two halves, find the maximum and minimum of each, then compare the two results.</a:t>
            </a:r>
            <a:endParaRPr lang="en-US" sz="2200" dirty="0"/>
          </a:p>
          <a:p>
            <a:pPr marL="0" indent="0" algn="l">
              <a:lnSpc>
                <a:spcPct val="117000"/>
              </a:lnSpc>
              <a:spcAft>
                <a:spcPts val="1400"/>
              </a:spcAft>
              <a:buNone/>
            </a:pPr>
            <a:r>
              <a:rPr lang="en-US" sz="2200" b="1" dirty="0">
                <a:solidFill>
                  <a:srgbClr val="2E2A26"/>
                </a:solidFill>
                <a:latin typeface="Lexend Deca Bold" pitchFamily="34" charset="0"/>
                <a:ea typeface="Lexend Deca Bold" pitchFamily="34" charset="-122"/>
                <a:cs typeface="Lexend Deca Bold" pitchFamily="34" charset="-120"/>
              </a:rPr>
              <a:t>Time:</a:t>
            </a:r>
            <a:r>
              <a:rPr lang="en-US" sz="2200" dirty="0">
                <a:solidFill>
                  <a:srgbClr val="2E2A2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O(n)</a:t>
            </a:r>
            <a:endParaRPr lang="en-US" sz="220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2200" b="1" dirty="0">
                <a:solidFill>
                  <a:srgbClr val="2E2A26"/>
                </a:solidFill>
                <a:latin typeface="Lexend Deca Bold" pitchFamily="34" charset="0"/>
                <a:ea typeface="Lexend Deca Bold" pitchFamily="34" charset="-122"/>
                <a:cs typeface="Lexend Deca Bold" pitchFamily="34" charset="-120"/>
              </a:rPr>
              <a:t>Comparisons:</a:t>
            </a:r>
            <a:r>
              <a:rPr lang="en-US" sz="2200" dirty="0">
                <a:solidFill>
                  <a:srgbClr val="2E2A2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about 3n/2 − 2, versus about 2n for the simple method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181371" y="2326680"/>
            <a:ext cx="2031949" cy="3202682"/>
          </a:xfrm>
          <a:prstGeom prst="roundRect">
            <a:avLst>
              <a:gd name="adj" fmla="val 19500"/>
            </a:avLst>
          </a:prstGeom>
          <a:solidFill>
            <a:srgbClr val="F7E3A0"/>
          </a:solidFill>
          <a:ln/>
        </p:spPr>
      </p:sp>
      <p:sp>
        <p:nvSpPr>
          <p:cNvPr id="5" name="Text 3"/>
          <p:cNvSpPr/>
          <p:nvPr/>
        </p:nvSpPr>
        <p:spPr>
          <a:xfrm>
            <a:off x="5409965" y="2555280"/>
            <a:ext cx="943547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Lexend Deca SemiBold" pitchFamily="34" charset="0"/>
                <a:ea typeface="Lexend Deca SemiBold" pitchFamily="34" charset="-122"/>
                <a:cs typeface="Lexend Deca SemiBold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09965" y="2946400"/>
            <a:ext cx="1574661" cy="19050"/>
          </a:xfrm>
          <a:prstGeom prst="rect">
            <a:avLst/>
          </a:prstGeom>
          <a:solidFill>
            <a:srgbClr val="F58A74"/>
          </a:solidFill>
          <a:ln/>
        </p:spPr>
      </p:sp>
      <p:sp>
        <p:nvSpPr>
          <p:cNvPr id="7" name="Text 5"/>
          <p:cNvSpPr/>
          <p:nvPr/>
        </p:nvSpPr>
        <p:spPr>
          <a:xfrm>
            <a:off x="5409965" y="3152080"/>
            <a:ext cx="1574761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Lexend Deca Medium" pitchFamily="34" charset="0"/>
                <a:ea typeface="Lexend Deca Medium" pitchFamily="34" charset="-122"/>
                <a:cs typeface="Lexend Deca Medium" pitchFamily="34" charset="-120"/>
              </a:rPr>
              <a:t>Split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409965" y="3743265"/>
            <a:ext cx="1574761" cy="782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[12, 5, 30] + [8, 20, 3]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7365717" y="2326680"/>
            <a:ext cx="2031949" cy="3202682"/>
          </a:xfrm>
          <a:prstGeom prst="roundRect">
            <a:avLst>
              <a:gd name="adj" fmla="val 19500"/>
            </a:avLst>
          </a:prstGeom>
          <a:solidFill>
            <a:srgbClr val="B7C35A"/>
          </a:solidFill>
          <a:ln/>
        </p:spPr>
      </p:sp>
      <p:sp>
        <p:nvSpPr>
          <p:cNvPr id="10" name="Text 8"/>
          <p:cNvSpPr/>
          <p:nvPr/>
        </p:nvSpPr>
        <p:spPr>
          <a:xfrm>
            <a:off x="7594311" y="2555280"/>
            <a:ext cx="945233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Lexend Deca SemiBold" pitchFamily="34" charset="0"/>
                <a:ea typeface="Lexend Deca SemiBold" pitchFamily="34" charset="-122"/>
                <a:cs typeface="Lexend Deca SemiBold" pitchFamily="34" charset="-120"/>
              </a:rPr>
              <a:t>02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7594311" y="2946400"/>
            <a:ext cx="1574661" cy="19050"/>
          </a:xfrm>
          <a:prstGeom prst="rect">
            <a:avLst/>
          </a:prstGeom>
          <a:solidFill>
            <a:srgbClr val="F58A74"/>
          </a:solidFill>
          <a:ln/>
        </p:spPr>
      </p:sp>
      <p:sp>
        <p:nvSpPr>
          <p:cNvPr id="12" name="Text 10"/>
          <p:cNvSpPr/>
          <p:nvPr/>
        </p:nvSpPr>
        <p:spPr>
          <a:xfrm>
            <a:off x="7594311" y="3152080"/>
            <a:ext cx="1574761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Lexend Deca Medium" pitchFamily="34" charset="0"/>
                <a:ea typeface="Lexend Deca Medium" pitchFamily="34" charset="-122"/>
                <a:cs typeface="Lexend Deca Medium" pitchFamily="34" charset="-120"/>
              </a:rPr>
              <a:t>Conquer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7594311" y="3743265"/>
            <a:ext cx="1574761" cy="15644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(max 30, min 5) + (max 20, min 3)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9550062" y="2326680"/>
            <a:ext cx="2032048" cy="3202682"/>
          </a:xfrm>
          <a:prstGeom prst="roundRect">
            <a:avLst>
              <a:gd name="adj" fmla="val 19499"/>
            </a:avLst>
          </a:prstGeom>
          <a:solidFill>
            <a:srgbClr val="8DB3E2"/>
          </a:solidFill>
          <a:ln/>
        </p:spPr>
      </p:sp>
      <p:sp>
        <p:nvSpPr>
          <p:cNvPr id="15" name="Text 13"/>
          <p:cNvSpPr/>
          <p:nvPr/>
        </p:nvSpPr>
        <p:spPr>
          <a:xfrm>
            <a:off x="9778656" y="2555280"/>
            <a:ext cx="951583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Lexend Deca SemiBold" pitchFamily="34" charset="0"/>
                <a:ea typeface="Lexend Deca SemiBold" pitchFamily="34" charset="-122"/>
                <a:cs typeface="Lexend Deca SemiBold" pitchFamily="34" charset="-120"/>
              </a:rPr>
              <a:t>03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9778656" y="2946400"/>
            <a:ext cx="1574860" cy="19050"/>
          </a:xfrm>
          <a:prstGeom prst="rect">
            <a:avLst/>
          </a:prstGeom>
          <a:solidFill>
            <a:srgbClr val="F58A74"/>
          </a:solidFill>
          <a:ln/>
        </p:spPr>
      </p:sp>
      <p:sp>
        <p:nvSpPr>
          <p:cNvPr id="17" name="Text 15"/>
          <p:cNvSpPr/>
          <p:nvPr/>
        </p:nvSpPr>
        <p:spPr>
          <a:xfrm>
            <a:off x="9778656" y="3152080"/>
            <a:ext cx="157486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Lexend Deca Medium" pitchFamily="34" charset="0"/>
                <a:ea typeface="Lexend Deca Medium" pitchFamily="34" charset="-122"/>
                <a:cs typeface="Lexend Deca Medium" pitchFamily="34" charset="-120"/>
              </a:rPr>
              <a:t>Combine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9778656" y="3743265"/>
            <a:ext cx="1574860" cy="782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Max = 30 · Min = 3</a:t>
            </a:r>
            <a:endParaRPr lang="en-US" sz="2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43389"/>
            <a:ext cx="10972526" cy="12174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4450" b="1" kern="100" spc="-22" dirty="0">
                <a:solidFill>
                  <a:srgbClr val="2E2A26"/>
                </a:solidFill>
                <a:latin typeface="DynaPuff Bold" pitchFamily="34" charset="0"/>
                <a:ea typeface="DynaPuff Bold" pitchFamily="34" charset="-122"/>
                <a:cs typeface="DynaPuff Bold" pitchFamily="34" charset="-120"/>
              </a:rPr>
              <a:t>The Master Theorem turns recurrences into complexity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609585" y="2123956"/>
            <a:ext cx="11582110" cy="3732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100" dirty="0">
                <a:solidFill>
                  <a:srgbClr val="2E2A2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For </a:t>
            </a:r>
            <a:r>
              <a:rPr lang="en-US" sz="2000" i="1" dirty="0">
                <a:solidFill>
                  <a:srgbClr val="2E2A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           </a:t>
            </a:r>
            <a:r>
              <a:rPr lang="en-US" sz="2100" dirty="0">
                <a:solidFill>
                  <a:srgbClr val="2E2A2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, compare </a:t>
            </a:r>
            <a:r>
              <a:rPr lang="en-US" sz="2000" i="1" dirty="0">
                <a:solidFill>
                  <a:srgbClr val="2E2A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   </a:t>
            </a:r>
            <a:r>
              <a:rPr lang="en-US" sz="2100" dirty="0">
                <a:solidFill>
                  <a:srgbClr val="2E2A2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with </a:t>
            </a:r>
            <a:r>
              <a:rPr lang="en-US" sz="2000" i="1" dirty="0">
                <a:solidFill>
                  <a:srgbClr val="2E2A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    </a:t>
            </a:r>
            <a:r>
              <a:rPr lang="en-US" sz="2100" dirty="0">
                <a:solidFill>
                  <a:srgbClr val="2E2A2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</a:t>
            </a:r>
            <a:endParaRPr lang="en-US" sz="21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7572" y="2161084"/>
            <a:ext cx="2683998" cy="328811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83752" y="2161084"/>
            <a:ext cx="520389" cy="328811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9371" y="2161084"/>
            <a:ext cx="913881" cy="328811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609585" y="2749947"/>
            <a:ext cx="3555911" cy="4109045"/>
          </a:xfrm>
          <a:prstGeom prst="roundRect">
            <a:avLst>
              <a:gd name="adj" fmla="val 11143"/>
            </a:avLst>
          </a:prstGeom>
          <a:solidFill>
            <a:srgbClr val="F7E3A0"/>
          </a:solidFill>
          <a:ln/>
        </p:spPr>
      </p:sp>
      <p:sp>
        <p:nvSpPr>
          <p:cNvPr id="8" name="Text 3"/>
          <p:cNvSpPr/>
          <p:nvPr/>
        </p:nvSpPr>
        <p:spPr>
          <a:xfrm>
            <a:off x="838179" y="2999919"/>
            <a:ext cx="3098722" cy="4288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dirty="0">
                <a:solidFill>
                  <a:srgbClr val="000000"/>
                </a:solidFill>
                <a:latin typeface="Lexend Deca Medium" pitchFamily="34" charset="0"/>
                <a:ea typeface="Lexend Deca Medium" pitchFamily="34" charset="-122"/>
                <a:cs typeface="Lexend Deca Medium" pitchFamily="34" charset="-120"/>
              </a:rPr>
              <a:t>Case 1</a:t>
            </a:r>
            <a:endParaRPr lang="en-US" sz="2700" dirty="0"/>
          </a:p>
        </p:txBody>
      </p:sp>
      <p:sp>
        <p:nvSpPr>
          <p:cNvPr id="9" name="Text 4"/>
          <p:cNvSpPr/>
          <p:nvPr/>
        </p:nvSpPr>
        <p:spPr>
          <a:xfrm>
            <a:off x="838179" y="3621564"/>
            <a:ext cx="3327317" cy="3706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f(n) is smaller</a:t>
            </a:r>
            <a:endParaRPr lang="en-US" sz="2100" dirty="0"/>
          </a:p>
        </p:txBody>
      </p:sp>
      <p:sp>
        <p:nvSpPr>
          <p:cNvPr id="10" name="Text 5"/>
          <p:cNvSpPr/>
          <p:nvPr/>
        </p:nvSpPr>
        <p:spPr>
          <a:xfrm>
            <a:off x="838179" y="4162578"/>
            <a:ext cx="3327317" cy="2866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Θ(n^(log_b a))</a:t>
            </a:r>
            <a:endParaRPr lang="en-US" sz="1750" dirty="0"/>
          </a:p>
        </p:txBody>
      </p:sp>
      <p:sp>
        <p:nvSpPr>
          <p:cNvPr id="11" name="Shape 6"/>
          <p:cNvSpPr/>
          <p:nvPr/>
        </p:nvSpPr>
        <p:spPr>
          <a:xfrm>
            <a:off x="838179" y="4674096"/>
            <a:ext cx="3098623" cy="50701"/>
          </a:xfrm>
          <a:prstGeom prst="roundRect">
            <a:avLst>
              <a:gd name="adj" fmla="val 49999"/>
            </a:avLst>
          </a:prstGeom>
          <a:solidFill>
            <a:srgbClr val="2E2A26"/>
          </a:solidFill>
          <a:ln/>
        </p:spPr>
      </p:sp>
      <p:sp>
        <p:nvSpPr>
          <p:cNvPr id="12" name="Text 7"/>
          <p:cNvSpPr/>
          <p:nvPr/>
        </p:nvSpPr>
        <p:spPr>
          <a:xfrm>
            <a:off x="838179" y="5072103"/>
            <a:ext cx="3098722" cy="4288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dirty="0">
                <a:solidFill>
                  <a:srgbClr val="000000"/>
                </a:solidFill>
                <a:latin typeface="Lexend Deca Medium" pitchFamily="34" charset="0"/>
                <a:ea typeface="Lexend Deca Medium" pitchFamily="34" charset="-122"/>
                <a:cs typeface="Lexend Deca Medium" pitchFamily="34" charset="-120"/>
              </a:rPr>
              <a:t>Merge Sort</a:t>
            </a:r>
            <a:endParaRPr lang="en-US" sz="2700" dirty="0"/>
          </a:p>
        </p:txBody>
      </p:sp>
      <p:sp>
        <p:nvSpPr>
          <p:cNvPr id="13" name="Text 8"/>
          <p:cNvSpPr/>
          <p:nvPr/>
        </p:nvSpPr>
        <p:spPr>
          <a:xfrm>
            <a:off x="838179" y="5695706"/>
            <a:ext cx="3098722" cy="5732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= 2, b = 2, f(n) = n → Θ(n log n)</a:t>
            </a:r>
            <a:endParaRPr lang="en-US" sz="1750" dirty="0"/>
          </a:p>
        </p:txBody>
      </p:sp>
      <p:sp>
        <p:nvSpPr>
          <p:cNvPr id="14" name="Shape 9"/>
          <p:cNvSpPr/>
          <p:nvPr/>
        </p:nvSpPr>
        <p:spPr>
          <a:xfrm>
            <a:off x="4317892" y="2749947"/>
            <a:ext cx="3555911" cy="4109045"/>
          </a:xfrm>
          <a:prstGeom prst="roundRect">
            <a:avLst>
              <a:gd name="adj" fmla="val 11143"/>
            </a:avLst>
          </a:prstGeom>
          <a:solidFill>
            <a:srgbClr val="B7C35A"/>
          </a:solidFill>
          <a:ln/>
        </p:spPr>
      </p:sp>
      <p:sp>
        <p:nvSpPr>
          <p:cNvPr id="15" name="Text 10"/>
          <p:cNvSpPr/>
          <p:nvPr/>
        </p:nvSpPr>
        <p:spPr>
          <a:xfrm>
            <a:off x="4546486" y="2999919"/>
            <a:ext cx="3098722" cy="4288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dirty="0">
                <a:solidFill>
                  <a:srgbClr val="000000"/>
                </a:solidFill>
                <a:latin typeface="Lexend Deca Medium" pitchFamily="34" charset="0"/>
                <a:ea typeface="Lexend Deca Medium" pitchFamily="34" charset="-122"/>
                <a:cs typeface="Lexend Deca Medium" pitchFamily="34" charset="-120"/>
              </a:rPr>
              <a:t>Case 2</a:t>
            </a:r>
            <a:endParaRPr lang="en-US" sz="2700" dirty="0"/>
          </a:p>
        </p:txBody>
      </p:sp>
      <p:sp>
        <p:nvSpPr>
          <p:cNvPr id="16" name="Text 11"/>
          <p:cNvSpPr/>
          <p:nvPr/>
        </p:nvSpPr>
        <p:spPr>
          <a:xfrm>
            <a:off x="4546486" y="3621564"/>
            <a:ext cx="3327317" cy="3706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f(n) is equal</a:t>
            </a:r>
            <a:endParaRPr lang="en-US" sz="2100" dirty="0"/>
          </a:p>
        </p:txBody>
      </p:sp>
      <p:sp>
        <p:nvSpPr>
          <p:cNvPr id="17" name="Text 12"/>
          <p:cNvSpPr/>
          <p:nvPr/>
        </p:nvSpPr>
        <p:spPr>
          <a:xfrm>
            <a:off x="4546486" y="4162578"/>
            <a:ext cx="3327317" cy="2866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Θ(n^(log_b a) · log n)</a:t>
            </a:r>
            <a:endParaRPr lang="en-US" sz="1750" dirty="0"/>
          </a:p>
        </p:txBody>
      </p:sp>
      <p:sp>
        <p:nvSpPr>
          <p:cNvPr id="18" name="Shape 13"/>
          <p:cNvSpPr/>
          <p:nvPr/>
        </p:nvSpPr>
        <p:spPr>
          <a:xfrm>
            <a:off x="4546486" y="4674096"/>
            <a:ext cx="3098623" cy="50701"/>
          </a:xfrm>
          <a:prstGeom prst="roundRect">
            <a:avLst>
              <a:gd name="adj" fmla="val 49999"/>
            </a:avLst>
          </a:prstGeom>
          <a:solidFill>
            <a:srgbClr val="2E2A26"/>
          </a:solidFill>
          <a:ln/>
        </p:spPr>
      </p:sp>
      <p:sp>
        <p:nvSpPr>
          <p:cNvPr id="19" name="Text 14"/>
          <p:cNvSpPr/>
          <p:nvPr/>
        </p:nvSpPr>
        <p:spPr>
          <a:xfrm>
            <a:off x="4546486" y="5072103"/>
            <a:ext cx="3098722" cy="4288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dirty="0">
                <a:solidFill>
                  <a:srgbClr val="000000"/>
                </a:solidFill>
                <a:latin typeface="Lexend Deca Medium" pitchFamily="34" charset="0"/>
                <a:ea typeface="Lexend Deca Medium" pitchFamily="34" charset="-122"/>
                <a:cs typeface="Lexend Deca Medium" pitchFamily="34" charset="-120"/>
              </a:rPr>
              <a:t>Binary Search</a:t>
            </a:r>
            <a:endParaRPr lang="en-US" sz="2700" dirty="0"/>
          </a:p>
        </p:txBody>
      </p:sp>
      <p:sp>
        <p:nvSpPr>
          <p:cNvPr id="20" name="Text 15"/>
          <p:cNvSpPr/>
          <p:nvPr/>
        </p:nvSpPr>
        <p:spPr>
          <a:xfrm>
            <a:off x="4546486" y="5695706"/>
            <a:ext cx="3098722" cy="5732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= 1, b = 2, f(n) = 1 → Θ(log n)</a:t>
            </a:r>
            <a:endParaRPr lang="en-US" sz="1750" dirty="0"/>
          </a:p>
        </p:txBody>
      </p:sp>
      <p:sp>
        <p:nvSpPr>
          <p:cNvPr id="21" name="Shape 16"/>
          <p:cNvSpPr/>
          <p:nvPr/>
        </p:nvSpPr>
        <p:spPr>
          <a:xfrm>
            <a:off x="8026199" y="2749947"/>
            <a:ext cx="3555911" cy="4109045"/>
          </a:xfrm>
          <a:prstGeom prst="roundRect">
            <a:avLst>
              <a:gd name="adj" fmla="val 11143"/>
            </a:avLst>
          </a:prstGeom>
          <a:solidFill>
            <a:srgbClr val="8DB3E2"/>
          </a:solidFill>
          <a:ln/>
        </p:spPr>
      </p:sp>
      <p:sp>
        <p:nvSpPr>
          <p:cNvPr id="22" name="Text 17"/>
          <p:cNvSpPr/>
          <p:nvPr/>
        </p:nvSpPr>
        <p:spPr>
          <a:xfrm>
            <a:off x="8254793" y="2999919"/>
            <a:ext cx="3098722" cy="4288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dirty="0">
                <a:solidFill>
                  <a:srgbClr val="000000"/>
                </a:solidFill>
                <a:latin typeface="Lexend Deca Medium" pitchFamily="34" charset="0"/>
                <a:ea typeface="Lexend Deca Medium" pitchFamily="34" charset="-122"/>
                <a:cs typeface="Lexend Deca Medium" pitchFamily="34" charset="-120"/>
              </a:rPr>
              <a:t>Case 3</a:t>
            </a:r>
            <a:endParaRPr lang="en-US" sz="2700" dirty="0"/>
          </a:p>
        </p:txBody>
      </p:sp>
      <p:sp>
        <p:nvSpPr>
          <p:cNvPr id="23" name="Text 18"/>
          <p:cNvSpPr/>
          <p:nvPr/>
        </p:nvSpPr>
        <p:spPr>
          <a:xfrm>
            <a:off x="8254793" y="3621564"/>
            <a:ext cx="3098722" cy="7413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f(n) is larger, plus a regularity condition</a:t>
            </a:r>
            <a:endParaRPr lang="en-US" sz="2100" dirty="0"/>
          </a:p>
        </p:txBody>
      </p:sp>
      <p:sp>
        <p:nvSpPr>
          <p:cNvPr id="24" name="Text 19"/>
          <p:cNvSpPr/>
          <p:nvPr/>
        </p:nvSpPr>
        <p:spPr>
          <a:xfrm>
            <a:off x="8254793" y="4533260"/>
            <a:ext cx="3327317" cy="2866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Θ(f(n))</a:t>
            </a:r>
            <a:endParaRPr lang="en-US" sz="1750" dirty="0"/>
          </a:p>
        </p:txBody>
      </p:sp>
      <p:sp>
        <p:nvSpPr>
          <p:cNvPr id="25" name="Shape 20"/>
          <p:cNvSpPr/>
          <p:nvPr/>
        </p:nvSpPr>
        <p:spPr>
          <a:xfrm>
            <a:off x="8254793" y="5044777"/>
            <a:ext cx="3098623" cy="50701"/>
          </a:xfrm>
          <a:prstGeom prst="roundRect">
            <a:avLst>
              <a:gd name="adj" fmla="val 49999"/>
            </a:avLst>
          </a:prstGeom>
          <a:solidFill>
            <a:srgbClr val="2E2A26"/>
          </a:solidFill>
          <a:ln/>
        </p:spPr>
      </p:sp>
      <p:sp>
        <p:nvSpPr>
          <p:cNvPr id="26" name="Text 21"/>
          <p:cNvSpPr/>
          <p:nvPr/>
        </p:nvSpPr>
        <p:spPr>
          <a:xfrm>
            <a:off x="8254793" y="5442784"/>
            <a:ext cx="3098722" cy="4288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dirty="0">
                <a:solidFill>
                  <a:srgbClr val="000000"/>
                </a:solidFill>
                <a:latin typeface="Lexend Deca Medium" pitchFamily="34" charset="0"/>
                <a:ea typeface="Lexend Deca Medium" pitchFamily="34" charset="-122"/>
                <a:cs typeface="Lexend Deca Medium" pitchFamily="34" charset="-120"/>
              </a:rPr>
              <a:t>Strassen</a:t>
            </a:r>
            <a:endParaRPr lang="en-US" sz="2700" dirty="0"/>
          </a:p>
        </p:txBody>
      </p:sp>
      <p:sp>
        <p:nvSpPr>
          <p:cNvPr id="27" name="Text 22"/>
          <p:cNvSpPr/>
          <p:nvPr/>
        </p:nvSpPr>
        <p:spPr>
          <a:xfrm>
            <a:off x="8254793" y="6066388"/>
            <a:ext cx="3098722" cy="5732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= 7, b = 2, f(n) = n² → Θ(n^2.807)</a:t>
            </a:r>
            <a:endParaRPr lang="en-US" sz="1750" dirty="0"/>
          </a:p>
        </p:txBody>
      </p:sp>
      <p:sp>
        <p:nvSpPr>
          <p:cNvPr id="28" name="Shape 23"/>
          <p:cNvSpPr/>
          <p:nvPr/>
        </p:nvSpPr>
        <p:spPr>
          <a:xfrm>
            <a:off x="10947027" y="152400"/>
            <a:ext cx="1066773" cy="666750"/>
          </a:xfrm>
          <a:prstGeom prst="rect">
            <a:avLst/>
          </a:prstGeom>
          <a:solidFill>
            <a:srgbClr val="8DB3E2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42890"/>
            <a:ext cx="10972526" cy="630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4600" b="1" kern="100" spc="-23" dirty="0">
                <a:solidFill>
                  <a:srgbClr val="2E2A26"/>
                </a:solidFill>
                <a:latin typeface="DynaPuff Bold" pitchFamily="34" charset="0"/>
                <a:ea typeface="DynaPuff Bold" pitchFamily="34" charset="-122"/>
                <a:cs typeface="DynaPuff Bold" pitchFamily="34" charset="-120"/>
              </a:rPr>
              <a:t>Complexity summary</a:t>
            </a:r>
            <a:endParaRPr lang="en-US" sz="4600" dirty="0"/>
          </a:p>
        </p:txBody>
      </p:sp>
      <p:sp>
        <p:nvSpPr>
          <p:cNvPr id="3" name="Text 1"/>
          <p:cNvSpPr/>
          <p:nvPr/>
        </p:nvSpPr>
        <p:spPr>
          <a:xfrm>
            <a:off x="609585" y="1558667"/>
            <a:ext cx="10972526" cy="782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2200" dirty="0">
                <a:solidFill>
                  <a:srgbClr val="2E2A2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Compare the algorithms by their time complexity and the trade-offs behind each growth rate.</a:t>
            </a:r>
            <a:endParaRPr lang="en-US" sz="2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585" y="2613323"/>
          <a:ext cx="10972526" cy="3356287"/>
        </p:xfrm>
        <a:graphic>
          <a:graphicData uri="http://schemas.openxmlformats.org/drawingml/2006/table">
            <a:tbl>
              <a:tblPr/>
              <a:tblGrid>
                <a:gridCol w="61445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279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25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200" dirty="0">
                          <a:solidFill>
                            <a:srgbClr val="2E2A26"/>
                          </a:solidFill>
                          <a:latin typeface="Lexend Deca" pitchFamily="34" charset="0"/>
                          <a:ea typeface="Lexend Deca" pitchFamily="34" charset="-122"/>
                          <a:cs typeface="Lexend Deca" pitchFamily="34" charset="-120"/>
                        </a:rPr>
                        <a:t>Algorithm</a:t>
                      </a:r>
                      <a:endParaRPr lang="en-US" sz="2200" dirty="0">
                        <a:latin typeface="Lexend Deca" charset="0"/>
                        <a:ea typeface="Lexend Deca" charset="0"/>
                        <a:cs typeface="Lexend Deca" charset="0"/>
                      </a:endParaRPr>
                    </a:p>
                  </a:txBody>
                  <a:tcPr marL="228594" marR="228594" marT="76198" marB="76198" anchor="ctr">
                    <a:lnL w="19050" cap="flat" cmpd="sng" algn="ctr">
                      <a:solidFill>
                        <a:srgbClr val="F7E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7E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7E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DBE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3A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200" dirty="0">
                          <a:solidFill>
                            <a:srgbClr val="2E2A26"/>
                          </a:solidFill>
                          <a:latin typeface="Lexend Deca" pitchFamily="34" charset="0"/>
                          <a:ea typeface="Lexend Deca" pitchFamily="34" charset="-122"/>
                          <a:cs typeface="Lexend Deca" pitchFamily="34" charset="-120"/>
                        </a:rPr>
                        <a:t>Time complexity</a:t>
                      </a:r>
                      <a:endParaRPr lang="en-US" sz="2200" dirty="0">
                        <a:latin typeface="Lexend Deca" charset="0"/>
                        <a:ea typeface="Lexend Deca" charset="0"/>
                        <a:cs typeface="Lexend Deca" charset="0"/>
                      </a:endParaRPr>
                    </a:p>
                  </a:txBody>
                  <a:tcPr marL="228594" marR="228594" marT="76198" marB="76198" anchor="ctr">
                    <a:lnL w="19050" cap="flat" cmpd="sng" algn="ctr">
                      <a:solidFill>
                        <a:srgbClr val="F7E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7E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7E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DBE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3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25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200" b="1" dirty="0">
                          <a:solidFill>
                            <a:srgbClr val="000000"/>
                          </a:solidFill>
                          <a:latin typeface="Lexend Deca" pitchFamily="34" charset="0"/>
                          <a:ea typeface="Lexend Deca" pitchFamily="34" charset="-122"/>
                          <a:cs typeface="Lexend Deca" pitchFamily="34" charset="-120"/>
                        </a:rPr>
                        <a:t>Binary Search</a:t>
                      </a:r>
                      <a:endParaRPr lang="en-US" sz="2200" dirty="0">
                        <a:latin typeface="Lexend Deca" charset="0"/>
                        <a:ea typeface="Lexend Deca" charset="0"/>
                        <a:cs typeface="Lexend Deca" charset="0"/>
                      </a:endParaRPr>
                    </a:p>
                  </a:txBody>
                  <a:tcPr marL="228594" marR="228594" marT="76198" marB="76198" anchor="ctr">
                    <a:lnL w="19050" cap="flat" cmpd="sng" algn="ctr">
                      <a:solidFill>
                        <a:srgbClr val="F7E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7E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DBE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DBE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3A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200" b="1" dirty="0">
                          <a:solidFill>
                            <a:srgbClr val="2E2A26"/>
                          </a:solidFill>
                          <a:latin typeface="Lexend Deca" pitchFamily="34" charset="0"/>
                          <a:ea typeface="Lexend Deca" pitchFamily="34" charset="-122"/>
                          <a:cs typeface="Lexend Deca" pitchFamily="34" charset="-120"/>
                        </a:rPr>
                        <a:t>O(log n)</a:t>
                      </a:r>
                      <a:endParaRPr lang="en-US" sz="2200" dirty="0">
                        <a:latin typeface="Lexend Deca" charset="0"/>
                        <a:ea typeface="Lexend Deca" charset="0"/>
                        <a:cs typeface="Lexend Deca" charset="0"/>
                      </a:endParaRPr>
                    </a:p>
                  </a:txBody>
                  <a:tcPr marL="228594" marR="228594" marT="76198" marB="76198" anchor="ctr">
                    <a:lnL w="19050" cap="flat" cmpd="sng" algn="ctr">
                      <a:solidFill>
                        <a:srgbClr val="F7E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DBE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DBE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25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200" b="1" dirty="0">
                          <a:solidFill>
                            <a:srgbClr val="000000"/>
                          </a:solidFill>
                          <a:latin typeface="Lexend Deca" pitchFamily="34" charset="0"/>
                          <a:ea typeface="Lexend Deca" pitchFamily="34" charset="-122"/>
                          <a:cs typeface="Lexend Deca" pitchFamily="34" charset="-120"/>
                        </a:rPr>
                        <a:t>Merge Sort</a:t>
                      </a:r>
                      <a:endParaRPr lang="en-US" sz="2200" dirty="0">
                        <a:latin typeface="Lexend Deca" charset="0"/>
                        <a:ea typeface="Lexend Deca" charset="0"/>
                        <a:cs typeface="Lexend Deca" charset="0"/>
                      </a:endParaRPr>
                    </a:p>
                  </a:txBody>
                  <a:tcPr marL="228594" marR="228594" marT="76198" marB="76198" anchor="ctr">
                    <a:lnL w="19050" cap="flat" cmpd="sng" algn="ctr">
                      <a:solidFill>
                        <a:srgbClr val="B7C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B7C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DBE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DBE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3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200" b="1" dirty="0">
                          <a:solidFill>
                            <a:srgbClr val="2E2A26"/>
                          </a:solidFill>
                          <a:latin typeface="Lexend Deca" pitchFamily="34" charset="0"/>
                          <a:ea typeface="Lexend Deca" pitchFamily="34" charset="-122"/>
                          <a:cs typeface="Lexend Deca" pitchFamily="34" charset="-120"/>
                        </a:rPr>
                        <a:t>O(n log n)</a:t>
                      </a:r>
                      <a:endParaRPr lang="en-US" sz="2200" dirty="0">
                        <a:latin typeface="Lexend Deca" charset="0"/>
                        <a:ea typeface="Lexend Deca" charset="0"/>
                        <a:cs typeface="Lexend Deca" charset="0"/>
                      </a:endParaRPr>
                    </a:p>
                  </a:txBody>
                  <a:tcPr marL="228594" marR="228594" marT="76198" marB="76198" anchor="ctr">
                    <a:lnL w="19050" cap="flat" cmpd="sng" algn="ctr">
                      <a:solidFill>
                        <a:srgbClr val="B7C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DBE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DBE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25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200" b="1" dirty="0">
                          <a:solidFill>
                            <a:srgbClr val="000000"/>
                          </a:solidFill>
                          <a:latin typeface="Lexend Deca" pitchFamily="34" charset="0"/>
                          <a:ea typeface="Lexend Deca" pitchFamily="34" charset="-122"/>
                          <a:cs typeface="Lexend Deca" pitchFamily="34" charset="-120"/>
                        </a:rPr>
                        <a:t>Quick Sort</a:t>
                      </a:r>
                      <a:endParaRPr lang="en-US" sz="2200" dirty="0">
                        <a:latin typeface="Lexend Deca" charset="0"/>
                        <a:ea typeface="Lexend Deca" charset="0"/>
                        <a:cs typeface="Lexend Deca" charset="0"/>
                      </a:endParaRPr>
                    </a:p>
                  </a:txBody>
                  <a:tcPr marL="228594" marR="228594" marT="76198" marB="76198" anchor="ctr">
                    <a:lnL w="19050" cap="flat" cmpd="sng" algn="ctr">
                      <a:solidFill>
                        <a:srgbClr val="8DB3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DB3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DBE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DBE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B3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200" dirty="0">
                          <a:solidFill>
                            <a:srgbClr val="2E2A26"/>
                          </a:solidFill>
                          <a:latin typeface="Lexend Deca" pitchFamily="34" charset="0"/>
                          <a:ea typeface="Lexend Deca" pitchFamily="34" charset="-122"/>
                          <a:cs typeface="Lexend Deca" pitchFamily="34" charset="-120"/>
                        </a:rPr>
                        <a:t>Average O(n log n), worst O(n²)</a:t>
                      </a:r>
                      <a:endParaRPr lang="en-US" sz="2200" dirty="0">
                        <a:latin typeface="Lexend Deca" charset="0"/>
                        <a:ea typeface="Lexend Deca" charset="0"/>
                        <a:cs typeface="Lexend Deca" charset="0"/>
                      </a:endParaRPr>
                    </a:p>
                  </a:txBody>
                  <a:tcPr marL="228594" marR="228594" marT="76198" marB="76198" anchor="ctr">
                    <a:lnL w="19050" cap="flat" cmpd="sng" algn="ctr">
                      <a:solidFill>
                        <a:srgbClr val="8DB3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DBE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DBE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25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200" b="1" dirty="0">
                          <a:solidFill>
                            <a:srgbClr val="000000"/>
                          </a:solidFill>
                          <a:latin typeface="Lexend Deca" pitchFamily="34" charset="0"/>
                          <a:ea typeface="Lexend Deca" pitchFamily="34" charset="-122"/>
                          <a:cs typeface="Lexend Deca" pitchFamily="34" charset="-120"/>
                        </a:rPr>
                        <a:t>Strassen's Matrix Multiplication</a:t>
                      </a:r>
                      <a:endParaRPr lang="en-US" sz="2200" dirty="0">
                        <a:latin typeface="Lexend Deca" charset="0"/>
                        <a:ea typeface="Lexend Deca" charset="0"/>
                        <a:cs typeface="Lexend Deca" charset="0"/>
                      </a:endParaRPr>
                    </a:p>
                  </a:txBody>
                  <a:tcPr marL="228594" marR="228594" marT="76198" marB="76198" anchor="ctr">
                    <a:lnL w="19050" cap="flat" cmpd="sng" algn="ctr">
                      <a:solidFill>
                        <a:srgbClr val="F4B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4B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DBE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DBE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C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200" b="1" dirty="0">
                          <a:solidFill>
                            <a:srgbClr val="2E2A26"/>
                          </a:solidFill>
                          <a:latin typeface="Lexend Deca" pitchFamily="34" charset="0"/>
                          <a:ea typeface="Lexend Deca" pitchFamily="34" charset="-122"/>
                          <a:cs typeface="Lexend Deca" pitchFamily="34" charset="-120"/>
                        </a:rPr>
                        <a:t>O(n^2.807)</a:t>
                      </a:r>
                      <a:endParaRPr lang="en-US" sz="2200" dirty="0">
                        <a:latin typeface="Lexend Deca" charset="0"/>
                        <a:ea typeface="Lexend Deca" charset="0"/>
                        <a:cs typeface="Lexend Deca" charset="0"/>
                      </a:endParaRPr>
                    </a:p>
                  </a:txBody>
                  <a:tcPr marL="228594" marR="228594" marT="76198" marB="76198" anchor="ctr">
                    <a:lnL w="19050" cap="flat" cmpd="sng" algn="ctr">
                      <a:solidFill>
                        <a:srgbClr val="F4B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DBE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DBE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350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200" b="1" dirty="0">
                          <a:solidFill>
                            <a:srgbClr val="000000"/>
                          </a:solidFill>
                          <a:latin typeface="Lexend Deca" pitchFamily="34" charset="0"/>
                          <a:ea typeface="Lexend Deca" pitchFamily="34" charset="-122"/>
                          <a:cs typeface="Lexend Deca" pitchFamily="34" charset="-120"/>
                        </a:rPr>
                        <a:t>Max and Min</a:t>
                      </a:r>
                      <a:endParaRPr lang="en-US" sz="2200" dirty="0">
                        <a:latin typeface="Lexend Deca" charset="0"/>
                        <a:ea typeface="Lexend Deca" charset="0"/>
                        <a:cs typeface="Lexend Deca" charset="0"/>
                      </a:endParaRPr>
                    </a:p>
                  </a:txBody>
                  <a:tcPr marL="228594" marR="228594" marT="76198" marB="76198" anchor="ctr">
                    <a:lnL w="19050" cap="flat" cmpd="sng" algn="ctr">
                      <a:solidFill>
                        <a:srgbClr val="F7E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7E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DBE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7E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3A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200" b="1" dirty="0">
                          <a:solidFill>
                            <a:srgbClr val="2E2A26"/>
                          </a:solidFill>
                          <a:latin typeface="Lexend Deca" pitchFamily="34" charset="0"/>
                          <a:ea typeface="Lexend Deca" pitchFamily="34" charset="-122"/>
                          <a:cs typeface="Lexend Deca" pitchFamily="34" charset="-120"/>
                        </a:rPr>
                        <a:t>O(n)</a:t>
                      </a:r>
                      <a:endParaRPr lang="en-US" sz="2200" dirty="0">
                        <a:latin typeface="Lexend Deca" charset="0"/>
                        <a:ea typeface="Lexend Deca" charset="0"/>
                        <a:cs typeface="Lexend Deca" charset="0"/>
                      </a:endParaRPr>
                    </a:p>
                  </a:txBody>
                  <a:tcPr marL="228594" marR="228594" marT="76198" marB="76198" anchor="ctr">
                    <a:lnL w="19050" cap="flat" cmpd="sng" algn="ctr">
                      <a:solidFill>
                        <a:srgbClr val="F7E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DBE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876678" cy="6858000"/>
          </a:xfrm>
          <a:prstGeom prst="rect">
            <a:avLst/>
          </a:prstGeom>
          <a:solidFill>
            <a:srgbClr val="F7E3A0"/>
          </a:solidFill>
          <a:ln/>
        </p:spPr>
      </p:sp>
      <p:sp>
        <p:nvSpPr>
          <p:cNvPr id="3" name="Text 1"/>
          <p:cNvSpPr/>
          <p:nvPr/>
        </p:nvSpPr>
        <p:spPr>
          <a:xfrm>
            <a:off x="609585" y="1698706"/>
            <a:ext cx="4267093" cy="235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50" kern="100" spc="15" dirty="0">
                <a:solidFill>
                  <a:srgbClr val="000000"/>
                </a:solidFill>
                <a:latin typeface="Lexend Deca SemiBold" pitchFamily="34" charset="0"/>
                <a:ea typeface="Lexend Deca SemiBold" pitchFamily="34" charset="-122"/>
                <a:cs typeface="Lexend Deca SemiBold" pitchFamily="34" charset="-120"/>
              </a:rPr>
              <a:t>THE TAKEAWAY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609585" y="2087711"/>
            <a:ext cx="3886103" cy="18939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4950" b="1" kern="100" spc="-25" dirty="0">
                <a:solidFill>
                  <a:srgbClr val="000000"/>
                </a:solidFill>
                <a:latin typeface="DynaPuff Bold" pitchFamily="34" charset="0"/>
                <a:ea typeface="DynaPuff Bold" pitchFamily="34" charset="-122"/>
                <a:cs typeface="DynaPuff Bold" pitchFamily="34" charset="-120"/>
              </a:rPr>
              <a:t>Divide,</a:t>
            </a:r>
            <a:endParaRPr lang="en-US" sz="4950" dirty="0"/>
          </a:p>
          <a:p>
            <a:pPr marL="0" indent="0" algn="l">
              <a:lnSpc>
                <a:spcPct val="83000"/>
              </a:lnSpc>
              <a:buNone/>
            </a:pPr>
            <a:r>
              <a:rPr lang="en-US" sz="4950" b="1" kern="100" spc="-25" dirty="0">
                <a:solidFill>
                  <a:srgbClr val="000000"/>
                </a:solidFill>
                <a:latin typeface="DynaPuff Bold" pitchFamily="34" charset="0"/>
                <a:ea typeface="DynaPuff Bold" pitchFamily="34" charset="-122"/>
                <a:cs typeface="DynaPuff Bold" pitchFamily="34" charset="-120"/>
              </a:rPr>
              <a:t>conquer,</a:t>
            </a:r>
            <a:endParaRPr lang="en-US" sz="4950" dirty="0"/>
          </a:p>
          <a:p>
            <a:pPr marL="0" indent="0" algn="l">
              <a:lnSpc>
                <a:spcPct val="83000"/>
              </a:lnSpc>
              <a:buNone/>
            </a:pPr>
            <a:r>
              <a:rPr lang="en-US" sz="4950" b="1" kern="100" spc="-25" dirty="0">
                <a:solidFill>
                  <a:srgbClr val="000000"/>
                </a:solidFill>
                <a:latin typeface="DynaPuff Bold" pitchFamily="34" charset="0"/>
                <a:ea typeface="DynaPuff Bold" pitchFamily="34" charset="-122"/>
                <a:cs typeface="DynaPuff Bold" pitchFamily="34" charset="-120"/>
              </a:rPr>
              <a:t>combine.</a:t>
            </a:r>
            <a:endParaRPr lang="en-US" sz="49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5" y="4205684"/>
            <a:ext cx="2793831" cy="39360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09585" y="4864351"/>
            <a:ext cx="4267093" cy="3113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Then choose wisely.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5333867" y="-4862"/>
            <a:ext cx="3124023" cy="2897783"/>
          </a:xfrm>
          <a:prstGeom prst="roundRect">
            <a:avLst>
              <a:gd name="adj" fmla="val 13674"/>
            </a:avLst>
          </a:prstGeom>
          <a:solidFill>
            <a:srgbClr val="B7C35A"/>
          </a:solidFill>
          <a:ln/>
        </p:spPr>
      </p:sp>
      <p:sp>
        <p:nvSpPr>
          <p:cNvPr id="8" name="Text 5"/>
          <p:cNvSpPr/>
          <p:nvPr/>
        </p:nvSpPr>
        <p:spPr>
          <a:xfrm>
            <a:off x="5562461" y="123045"/>
            <a:ext cx="2666834" cy="3265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50" dirty="0">
                <a:solidFill>
                  <a:srgbClr val="000000"/>
                </a:solidFill>
                <a:latin typeface="Lexend Deca Medium" pitchFamily="34" charset="0"/>
                <a:ea typeface="Lexend Deca Medium" pitchFamily="34" charset="-122"/>
                <a:cs typeface="Lexend Deca Medium" pitchFamily="34" charset="-120"/>
              </a:rPr>
              <a:t>Advantages</a:t>
            </a:r>
            <a:endParaRPr lang="en-US" sz="2050" dirty="0"/>
          </a:p>
        </p:txBody>
      </p:sp>
      <p:sp>
        <p:nvSpPr>
          <p:cNvPr id="9" name="Text 6"/>
          <p:cNvSpPr/>
          <p:nvPr/>
        </p:nvSpPr>
        <p:spPr>
          <a:xfrm>
            <a:off x="5562461" y="611836"/>
            <a:ext cx="2666834" cy="1556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Simplifies hard problems, gives efficient algorithms, and suits parallel execution.</a:t>
            </a:r>
            <a:endParaRPr lang="en-US" sz="1900" dirty="0"/>
          </a:p>
        </p:txBody>
      </p:sp>
      <p:sp>
        <p:nvSpPr>
          <p:cNvPr id="10" name="Shape 7"/>
          <p:cNvSpPr/>
          <p:nvPr/>
        </p:nvSpPr>
        <p:spPr>
          <a:xfrm>
            <a:off x="8610285" y="-4862"/>
            <a:ext cx="3124122" cy="2897783"/>
          </a:xfrm>
          <a:prstGeom prst="roundRect">
            <a:avLst>
              <a:gd name="adj" fmla="val 13674"/>
            </a:avLst>
          </a:prstGeom>
          <a:solidFill>
            <a:srgbClr val="8DB3E2"/>
          </a:solidFill>
          <a:ln/>
        </p:spPr>
      </p:sp>
      <p:sp>
        <p:nvSpPr>
          <p:cNvPr id="11" name="Text 8"/>
          <p:cNvSpPr/>
          <p:nvPr/>
        </p:nvSpPr>
        <p:spPr>
          <a:xfrm>
            <a:off x="8838880" y="123045"/>
            <a:ext cx="2666933" cy="3265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50" dirty="0">
                <a:solidFill>
                  <a:srgbClr val="000000"/>
                </a:solidFill>
                <a:latin typeface="Lexend Deca Medium" pitchFamily="34" charset="0"/>
                <a:ea typeface="Lexend Deca Medium" pitchFamily="34" charset="-122"/>
                <a:cs typeface="Lexend Deca Medium" pitchFamily="34" charset="-120"/>
              </a:rPr>
              <a:t>Limitations</a:t>
            </a:r>
            <a:endParaRPr lang="en-US" sz="2050" dirty="0"/>
          </a:p>
        </p:txBody>
      </p:sp>
      <p:sp>
        <p:nvSpPr>
          <p:cNvPr id="12" name="Text 9"/>
          <p:cNvSpPr/>
          <p:nvPr/>
        </p:nvSpPr>
        <p:spPr>
          <a:xfrm>
            <a:off x="8838880" y="611836"/>
            <a:ext cx="2666933" cy="21794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Recursion overhead and extra memory; overlapping subproblems are often better handled by dynamic programming.</a:t>
            </a:r>
            <a:endParaRPr lang="en-US" sz="1900" dirty="0"/>
          </a:p>
        </p:txBody>
      </p:sp>
      <p:sp>
        <p:nvSpPr>
          <p:cNvPr id="13" name="Shape 10"/>
          <p:cNvSpPr/>
          <p:nvPr/>
        </p:nvSpPr>
        <p:spPr>
          <a:xfrm>
            <a:off x="5333867" y="3045321"/>
            <a:ext cx="6400541" cy="2897783"/>
          </a:xfrm>
          <a:prstGeom prst="roundRect">
            <a:avLst>
              <a:gd name="adj" fmla="val 13674"/>
            </a:avLst>
          </a:prstGeom>
          <a:solidFill>
            <a:srgbClr val="F7E3A0"/>
          </a:solidFill>
          <a:ln/>
        </p:spPr>
      </p:sp>
      <p:sp>
        <p:nvSpPr>
          <p:cNvPr id="14" name="Text 11"/>
          <p:cNvSpPr/>
          <p:nvPr/>
        </p:nvSpPr>
        <p:spPr>
          <a:xfrm>
            <a:off x="5562461" y="3173228"/>
            <a:ext cx="5943352" cy="3265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50" dirty="0">
                <a:solidFill>
                  <a:srgbClr val="2E2A26"/>
                </a:solidFill>
                <a:latin typeface="Lexend Deca Medium" pitchFamily="34" charset="0"/>
                <a:ea typeface="Lexend Deca Medium" pitchFamily="34" charset="-122"/>
                <a:cs typeface="Lexend Deca Medium" pitchFamily="34" charset="-120"/>
              </a:rPr>
              <a:t>Conclusion</a:t>
            </a:r>
            <a:endParaRPr lang="en-US" sz="2050" dirty="0"/>
          </a:p>
        </p:txBody>
      </p:sp>
      <p:sp>
        <p:nvSpPr>
          <p:cNvPr id="15" name="Text 12"/>
          <p:cNvSpPr/>
          <p:nvPr/>
        </p:nvSpPr>
        <p:spPr>
          <a:xfrm>
            <a:off x="5562461" y="3662018"/>
            <a:ext cx="5943352" cy="6226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900" dirty="0">
                <a:solidFill>
                  <a:srgbClr val="2E2A2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Understand the algorithm, write the recurrence, then find the complexity.</a:t>
            </a:r>
            <a:endParaRPr lang="en-US" sz="1900" dirty="0"/>
          </a:p>
        </p:txBody>
      </p:sp>
      <p:sp>
        <p:nvSpPr>
          <p:cNvPr id="16" name="Text 13"/>
          <p:cNvSpPr/>
          <p:nvPr/>
        </p:nvSpPr>
        <p:spPr>
          <a:xfrm>
            <a:off x="5333867" y="6148288"/>
            <a:ext cx="6400640" cy="7145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spcAft>
                <a:spcPts val="1600"/>
              </a:spcAft>
              <a:buNone/>
            </a:pPr>
            <a:r>
              <a:rPr lang="en-US" sz="1550" dirty="0">
                <a:solidFill>
                  <a:srgbClr val="675D5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Thank you!</a:t>
            </a:r>
            <a:endParaRPr lang="en-US" sz="1550" dirty="0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796" y="152400"/>
            <a:ext cx="1066773" cy="6667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872</Words>
  <Application>Microsoft Office PowerPoint</Application>
  <PresentationFormat>Widescreen</PresentationFormat>
  <Paragraphs>146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Lexend Deca Bold</vt:lpstr>
      <vt:lpstr>Arial</vt:lpstr>
      <vt:lpstr>DynaPuff Bold</vt:lpstr>
      <vt:lpstr>Lexend Deca Medium</vt:lpstr>
      <vt:lpstr>Lexend Deca</vt:lpstr>
      <vt:lpstr>Lexend Deca SemiBold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Vedansh Agrawal</dc:creator>
  <cp:lastModifiedBy>Vedansh Agrawal</cp:lastModifiedBy>
  <cp:revision>2</cp:revision>
  <dcterms:created xsi:type="dcterms:W3CDTF">2026-10-14T08:38:03Z</dcterms:created>
  <dcterms:modified xsi:type="dcterms:W3CDTF">2026-10-14T08:46:42Z</dcterms:modified>
</cp:coreProperties>
</file>